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71ac16235448e6" /><Relationship Type="http://schemas.openxmlformats.org/officeDocument/2006/relationships/extended-properties" Target="/docProps/app.xml" Id="R1009929a389f45d5" /><Relationship Type="http://schemas.openxmlformats.org/officeDocument/2006/relationships/officeDocument" Target="/ppt/presentation.xml" Id="R0e632580376744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bb411ead2b40c6"/>
  </p:sldMasterIdLst>
  <p:notesMasterIdLst>
    <p:notesMasterId xmlns:r="http://schemas.openxmlformats.org/officeDocument/2006/relationships" r:id="R0495517089b7492d"/>
  </p:notesMasterIdLst>
  <p:sldIdLst>
    <p:sldId xmlns:r="http://schemas.openxmlformats.org/officeDocument/2006/relationships" id="256" r:id="R374a1d175f064329"/>
    <p:sldId xmlns:r="http://schemas.openxmlformats.org/officeDocument/2006/relationships" id="257" r:id="Rcd6cb5134c6f412b"/>
    <p:sldId xmlns:r="http://schemas.openxmlformats.org/officeDocument/2006/relationships" id="258" r:id="R54ea962a32054c2a"/>
    <p:sldId xmlns:r="http://schemas.openxmlformats.org/officeDocument/2006/relationships" id="259" r:id="R7a3ab8b3d05145cd"/>
    <p:sldId xmlns:r="http://schemas.openxmlformats.org/officeDocument/2006/relationships" id="260" r:id="Rbf6f56d13f434904"/>
    <p:sldId xmlns:r="http://schemas.openxmlformats.org/officeDocument/2006/relationships" id="261" r:id="Rd125c381012d4bf7"/>
    <p:sldId xmlns:r="http://schemas.openxmlformats.org/officeDocument/2006/relationships" id="262" r:id="Rb4a3af9ca2734cb8"/>
    <p:sldId xmlns:r="http://schemas.openxmlformats.org/officeDocument/2006/relationships" id="263" r:id="Rb774cb4285494d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fd70dd417b41be" /><Relationship Type="http://schemas.openxmlformats.org/officeDocument/2006/relationships/slideMaster" Target="/ppt/slideMasters/slideMaster1.xml" Id="R60bb411ead2b40c6" /><Relationship Type="http://schemas.openxmlformats.org/officeDocument/2006/relationships/notesMaster" Target="/ppt/notesMasters/notesMaster1.xml" Id="R0495517089b7492d" /><Relationship Type="http://schemas.openxmlformats.org/officeDocument/2006/relationships/presProps" Target="/ppt/presProps.xml" Id="Rf36c4844c0444fde" /><Relationship Type="http://schemas.openxmlformats.org/officeDocument/2006/relationships/tableStyles" Target="/ppt/tableStyles.xml" Id="R7d90aca4480e41c0" /><Relationship Type="http://schemas.openxmlformats.org/officeDocument/2006/relationships/slide" Target="/ppt/slides/slide1.xml" Id="R374a1d175f064329" /><Relationship Type="http://schemas.openxmlformats.org/officeDocument/2006/relationships/slide" Target="/ppt/slides/slide2.xml" Id="Rcd6cb5134c6f412b" /><Relationship Type="http://schemas.openxmlformats.org/officeDocument/2006/relationships/slide" Target="/ppt/slides/slide3.xml" Id="R54ea962a32054c2a" /><Relationship Type="http://schemas.openxmlformats.org/officeDocument/2006/relationships/slide" Target="/ppt/slides/slide4.xml" Id="R7a3ab8b3d05145cd" /><Relationship Type="http://schemas.openxmlformats.org/officeDocument/2006/relationships/slide" Target="/ppt/slides/slide5.xml" Id="Rbf6f56d13f434904" /><Relationship Type="http://schemas.openxmlformats.org/officeDocument/2006/relationships/slide" Target="/ppt/slides/slide6.xml" Id="Rd125c381012d4bf7" /><Relationship Type="http://schemas.openxmlformats.org/officeDocument/2006/relationships/slide" Target="/ppt/slides/slide7.xml" Id="Rb4a3af9ca2734cb8" /><Relationship Type="http://schemas.openxmlformats.org/officeDocument/2006/relationships/slide" Target="/ppt/slides/slide8.xml" Id="Rb774cb4285494d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26ac76b38b43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208e739fb4c5d" /><Relationship Type="http://schemas.openxmlformats.org/officeDocument/2006/relationships/notesMaster" Target="/ppt/notesMasters/notesMaster1.xml" Id="Rc0e2e1b9142e4d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d8c5d5bf924c66" /><Relationship Type="http://schemas.openxmlformats.org/officeDocument/2006/relationships/notesMaster" Target="/ppt/notesMasters/notesMaster1.xml" Id="R929694d0ac264d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7eb3a310e4718" /><Relationship Type="http://schemas.openxmlformats.org/officeDocument/2006/relationships/notesMaster" Target="/ppt/notesMasters/notesMaster1.xml" Id="Rd1291633d37b46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349d9496834b20" /><Relationship Type="http://schemas.openxmlformats.org/officeDocument/2006/relationships/notesMaster" Target="/ppt/notesMasters/notesMaster1.xml" Id="Raafa4103be31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ade46f635742b6" /><Relationship Type="http://schemas.openxmlformats.org/officeDocument/2006/relationships/notesMaster" Target="/ppt/notesMasters/notesMaster1.xml" Id="Rb175123dabfd4e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e9fbb48ef74ee4" /><Relationship Type="http://schemas.openxmlformats.org/officeDocument/2006/relationships/notesMaster" Target="/ppt/notesMasters/notesMaster1.xml" Id="R9b8c7dcd16f64c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e5fca63de04fc6" /><Relationship Type="http://schemas.openxmlformats.org/officeDocument/2006/relationships/notesMaster" Target="/ppt/notesMasters/notesMaster1.xml" Id="R0e835e00704747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cbbce4d6f5458e" /><Relationship Type="http://schemas.openxmlformats.org/officeDocument/2006/relationships/notesMaster" Target="/ppt/notesMasters/notesMaster1.xml" Id="R4200da79fda0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fea23d22e47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a29adce1b240ca" /><Relationship Type="http://schemas.openxmlformats.org/officeDocument/2006/relationships/slideLayout" Target="/ppt/slideLayouts/slideLayout1.xml" Id="R49c0df34e2374d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c0df34e2374d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3a291e8dd4f0a" /><Relationship Type="http://schemas.openxmlformats.org/officeDocument/2006/relationships/notesSlide" Target="/ppt/notesSlides/notesSlide1.xml" Id="R561f654d9c2e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aed55c7554037" /><Relationship Type="http://schemas.openxmlformats.org/officeDocument/2006/relationships/notesSlide" Target="/ppt/notesSlides/notesSlide2.xml" Id="R2ad7ce95a1a84e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8783bfc374cb9" /><Relationship Type="http://schemas.openxmlformats.org/officeDocument/2006/relationships/notesSlide" Target="/ppt/notesSlides/notesSlide3.xml" Id="Rcaaae4e0e1e3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95cbef1604dbe" /><Relationship Type="http://schemas.openxmlformats.org/officeDocument/2006/relationships/notesSlide" Target="/ppt/notesSlides/notesSlide4.xml" Id="Rc6061e463f0c4c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980ba2efb40e0" /><Relationship Type="http://schemas.openxmlformats.org/officeDocument/2006/relationships/notesSlide" Target="/ppt/notesSlides/notesSlide5.xml" Id="R5da2d60cb73143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c31106d1840d7" /><Relationship Type="http://schemas.openxmlformats.org/officeDocument/2006/relationships/notesSlide" Target="/ppt/notesSlides/notesSlide6.xml" Id="R6ec983021e6f46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7222dcbff4958" /><Relationship Type="http://schemas.openxmlformats.org/officeDocument/2006/relationships/notesSlide" Target="/ppt/notesSlides/notesSlide7.xml" Id="R9511ccdfe4b741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6e5b83c6b4a7e" /><Relationship Type="http://schemas.openxmlformats.org/officeDocument/2006/relationships/notesSlide" Target="/ppt/notesSlides/notesSlide8.xml" Id="R4182b2f4a8db40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39E68-C44A-4DF3-805C-365C922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solidFill>
              <a:srgbClr val="1019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F9EE-3DFD-45E8-9074-012286A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90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/ TELECOM AGENT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9769-590B-4B07-AEB1-DF20973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57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让智能体运行过程清晰可见，
依据充分、异常可定位、操作可追溯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454D-3435-4CF9-81E7-BC02D45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E50B-F5B9-462A-BDB1-C67EB84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78581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面向网络运维人员（智能体用户）、平台运维人员与开发及集成人员的
过程可视 · 可解释 · 可观测 · 可审计设计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95300" y="5905500"/>
            <a:ext cx="89820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8AE78-E50F-41F4-BBB9-E4B4026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381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ED7DD-F490-4BC3-B7AA-168828C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960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四项能力共用可信运行事实，分别解决用户体验、结论信任、平台保障和责任治理问题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1DC9-BCE3-429A-BD13-CBF13EA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D5E8"/>
                </a:solidFill>
                <a:latin typeface="Microsoft YaHei"/>
                <a:ea typeface="Microsoft YaHei"/>
                <a:cs typeface="Microsoft YaHei"/>
              </a:defRPr>
            </a:pPr>
            <a:r>
              <a:t>01 —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4B43-A224-4FE7-B4FC-B779237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668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过程可视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980A9-2F96-48FF-ACB0-1436692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287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掌握任务进展、关键操作和介入时点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C3BC-038F-44F6-BB3D-17F9C22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230F5-2E02-4F30-831E-3F815E4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核查结论依据、判断理由和可信程度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C186E-E947-438C-9AB2-8C3A7DA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可观测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E8D63-75D9-4A16-9D0F-0642168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1428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发现异常、定位原因与慢点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EC08-E6F5-4C80-B354-9654DE5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可审计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4016A-FDA4-418D-876A-2F8272B7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追溯操作主体、权限范围和执行结果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2C20F-2958-436A-A5CF-CB5A267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项目现状汇报
2026.07</a:t>
            </a:r>
          </a:p>
        </p:txBody>
      </p:sp>
    </p:spTree>
    <p:extLst>
      <p:ext uri="{BB962C8B-B14F-4D97-AF65-F5344CB8AC3E}">
        <p14:creationId xmlns:p14="http://schemas.microsoft.com/office/powerpoint/2010/main" val="1572275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232A1-6312-4EB7-8667-58EC410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685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三类用户基于同一事实开展工作，
但所需信息各有侧重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DC239-4E90-4BC7-AD2D-1DB93DE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4191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事实口径保持一致，呈现内容按照职责区分，做到必要、清晰、安全。</a:t>
            </a:r>
          </a:p>
        </p:txBody>
      </p:sp>
      <p:cxnSp>
        <p:nvCxnSpPr>
          <p:cNvPr id="203" name=""/>
          <p:cNvCxnSpPr/>
          <p:nvPr/>
        </p:nvCxnSpPr>
        <p:spPr>
          <a:xfrm xmlns:a="http://schemas.openxmlformats.org/drawingml/2006/main">
            <a:off x="457200" y="18097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82FC3-14BC-41DF-B1E0-DF240FE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0DED6-7218-4B67-8123-B56C00C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E06B6-D193-4161-A4CE-D2A221E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智能体使用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97811-370C-4363-BD8E-575F71A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网络运维人员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1B70-76DE-4603-B6C2-BDD393E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智能体用户｜告警分析、故障定位、变更验证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C4422-1DD9-4355-A9C2-EAC5C57A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33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“任务进行到哪一步？
结论依据是什么？”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01E7D-02F0-49AB-B0EF-FA32861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33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需要持续了解状态、进展、关键操作和介入时点，并能够核查结论依据与验证程度。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343BB-9F87-4F4F-A444-B60E803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平台运行保障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E3764-883D-4B35-B883-AD3D3D25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平台运维人员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288C-65DE-41E7-A565-0C52E82D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值守、稳定性保障、容量与恢复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7985F-6743-46AB-86F9-E300C25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“平台是否稳定？
问题在哪里、影响多大？”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FEA64-E083-477A-B430-C557793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需要贯通一次运行的关键环节，及时发现异常、定位故障与慢点，并确认恢复结果。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3EC5-CBAE-4331-9678-48A59A6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建设与集成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120F-536A-4901-B0F4-5448EB2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开发与集成人员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A7264-515E-46A3-A3CD-AD9BC9E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智能体、能力与外部系统建设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6FE2F-676B-45E3-AB71-E8201E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“哪项设计或变更影响了结果？
如何复现并防止再次发生？”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11B30-66AB-4F24-BDD2-D3777F4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38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需要依据统一标识和规范化记录复现问题、判断影响范围，并通过规范和测试防止问题重复发生。</a:t>
            </a:r>
          </a:p>
        </p:txBody>
      </p:sp>
      <p:cxnSp>
        <p:nvCxnSpPr>
          <p:cNvPr id="221" name=""/>
          <p:cNvCxnSpPr/>
          <p:nvPr/>
        </p:nvCxnSpPr>
        <p:spPr>
          <a:xfrm xmlns:a="http://schemas.openxmlformats.org/drawingml/2006/main">
            <a:off x="457200" y="514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6E610-C77B-42E8-84DE-DFA7466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共同底座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4ADB9-8498-4346-BA8C-0176F18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2F786-29AA-4D1A-8CCE-897B339E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292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统一运行时间线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05DC-6620-4233-8364-7B89151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C5EB0-B808-46FF-90CC-AA99C80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2925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稳定关联标识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EB523-B4A5-4A3F-9597-F3701A4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6C3C1-766E-4A2D-B2D5-C682F05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用户与智能体范围隔离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CBD18-705F-494F-A51B-79F675E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5D4A6-5D92-40DA-B165-6C88963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统一脱敏与安全处理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0860C-A4F0-48D4-82B5-0CB3C3D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设计依据：项目架构边界、运行事实和安全隔离原则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A740B-CA1E-4C05-87D6-1A42469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2017502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739A8-6BC7-4A2C-BCB7-DBBD36A5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整体方案：以权威运行事实为基础，
经可信关联和安全投影形成分角色视图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1B885-0135-40DF-B015-E8AA553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各模块在职责范围内形成权威事实，通过可信用户范围、可信智能体范围和稳定业务标识建立关联；任何视图都不得反向改写运行结果。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9C6AE-B6B0-41A3-AE99-4E324A3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24100"/>
            <a:ext cx="19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713AA-14BC-4389-8052-8A0F695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941C4-FA55-4E87-97DF-1511A2D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66D0-C3C6-4C85-8A79-E9055F2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0F884-3FE3-41C9-823C-8DF26648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F724-55BF-42FC-8F95-22ADCAD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OWNERS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5FD7A-1F76-468E-8885-63312EF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事实形成层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A2184-F74D-4F10-A3C8-15A28094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90039-280E-4D3E-BE9B-78535F64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30BFD-C8B1-4FAD-8372-B8AD47B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898E4-0152-45D7-BF91-22FB097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38F26-43AB-464F-B827-6A84CA3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31DE5-0EBC-4F4E-A080-38BB89B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210FC-9BB1-4822-9A9A-1EF0201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2DB34-716C-48A2-B6B3-99873AAA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2BFCD-4C6A-49D6-9F24-6FEB7794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agent-runtime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F41F-262F-4D4D-9D5A-237A284C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请求生命周期、运行状态、统一时间线与终态提交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8050C-D1B6-4636-BCF0-4A034861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agent-core / agent-context-engine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FC4D9-37ED-4880-BDCF-8DEB7B00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任务编排、路径选择、信息取舍与决策证据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CDEE5-EF17-4E8F-A972-BAF1702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agent-model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3A5D7-EEB1-42D0-BC88-7AD2DF0A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模型调用归一化、流式结果与安全错误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E58A-C144-4F46-B31B-9ED8AEDE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agent-capability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21E9E-9412-4A58-A1A2-C70447A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能力选择、受控执行与结果记录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E3DC7-7417-476F-9BE1-3F288DE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FACTS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169AF-8958-41BE-AE18-8E2D213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事实关联层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2AD75-8D9D-4911-A4E5-D5FC531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956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52BA6-EA69-4638-970C-8F5B1D4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8956C-A033-491E-9120-D7D856A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00C7C-9894-4F09-85E8-D27C7624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57DDC-2CA2-41C1-84FE-3D1E4F1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E8D8E-9DF0-4493-81A2-82458886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RequestRun
运行坐标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31299-3FBA-4E71-A2AF-4592999F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Canonical Timeline
统一时间线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10122-F6A3-46A1-82C1-BF9E195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Context / Route Evidence
取舍与路径证据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046B3-326F-45B1-98EB-7AFFC6F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 Resource Access
AI资源访问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FD28A0-EFB6-4705-BDB8-5303091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432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Gateway Persistence
事实留存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36C113-1981-46CB-9C9C-17532EA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617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PROJECT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CB31FA-8C3C-4E70-A8C1-14932112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安全投影层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9572A3-9202-4F6A-A74B-DD7C9EE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956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5"/>
          </a:solidFill>
          <a:ln xmlns:a="http://schemas.openxmlformats.org/drawingml/2006/main" w="0">
            <a:solidFill>
              <a:srgbClr val="D9F0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559D4B-69BE-4C18-AA00-3D73721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956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C02D5B-18D0-4F7E-8512-C2FF7C97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114C08-7C61-44A0-83B3-2FBB4A7F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468CDD-0409-47CB-A06D-8DB6C318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67526A-AD76-4E6C-8A14-FFFF1C3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双重范围校验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5EE52B-630C-4560-B8DC-D58F837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用户范围 + 智能体范围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47400E-5CF2-473E-887D-78DC5E0D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稳定标识关联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72B631-4E0B-4B25-9C33-D515026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 + 请求 + 运行 + 调用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D74B34-1161-4EAE-823E-C7DB95F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用户与开发投影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70F47F-E0DF-458F-9E89-D8933F4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channel-web + dev-workbench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6DC502-A3C0-4102-8339-64E304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观测与事件上报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1C5423-EAC2-4E60-B8C0-E279C1A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observability + audit report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B0BB8B-0E4E-4974-ADA0-9F22643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VIEWS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499D51-713C-4505-8469-B6C9372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应用视图层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B3E25D-50BA-4D11-A2B7-3CBD3581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12F0D0-843E-4BEC-B8B4-1D24FD45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6E79A6-2A0E-4967-BEB8-145B94D1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137393-D860-4476-BC9C-456C5F40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E519B7-5BA5-4DF9-B342-91CBD09B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A0019C-C445-4734-BB0B-4DF445C4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DBFD9A-BE13-4ABE-B4CA-BADEF40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D12D61-4DA6-428B-8710-6BE2F457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372614-11FC-49FA-AE39-CA634217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过程可视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2444A5-3D6D-4A1D-84D9-BE02DCB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 · 进展 · 操作
面向网络运维人员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944541-3C20-4511-A365-B7A5C711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C13CC8-A4BC-4F95-9690-392BFE4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 · 选择 · 验证
面向网络运维人员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99E5D8-3247-4B0E-832D-48E2DDC5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可观测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5EC67C-89CF-4592-907C-65295C4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· 慢点 · 健康
面向平台运维人员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ABE77E-7C3E-4C66-81FA-36A5678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可审计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198E6F-8333-480F-AE35-A15D0F8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主体 · AI资源 · 结果
面向治理与开发人员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E014CF-5ADF-4C58-9945-444819E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04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关键边界：本项目形成并上报审计事件；接收、留存、防篡改、查询、归档及合规管理由外部审计平台负责。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97C3D6-5DEE-45A2-A72E-25121F00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设计依据：可信身份、AI资源访问记录、稳定关联标识、审计事件上报与外部管理职责分离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3940C7-E44C-4869-B89E-671458E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28720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过程可视：说明任务正在做什么、
进展到何处、何时需要介入</a:t>
            </a:r>
          </a:p>
        </p:txBody>
      </p:sp>
      <p:cxnSp>
        <p:nvCxnSpPr>
          <p:cNvPr id="125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26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把真实状态和关键事件转化为连续、易懂的过程信息，回答“正在做什么、进展到何处”。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减少无反馈等待带来的不确定感，便于判断任务是否正常、是否继续以及何时介入。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怎么做：以一次任务的完整过程为主线，持续呈现阶段状态、已完成事项、当前操作、下一步和介入提示</a:t>
            </a:r>
          </a:p>
        </p:txBody>
      </p:sp>
      <p:cxnSp>
        <p:nvCxnSpPr>
          <p:cNvPr id="132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请求受理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已受理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任务已进入处理流程，并建立本次运行标识。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分析准备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分析中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汇集必要信息，呈现当前分析思路、阶段判断和执行安排。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能力执行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显示当前使用的能力、操作类型及执行状态。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等待或恢复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等待 / 恢复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说明需要补充的信息、降级情况或连接恢复进展。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运行结束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已结束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明确完成、失败或取消，并标注结果是否经过验证。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受理、分析、执行、等待、完成、失败或取消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思考与执行进展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当前思考、已完成事项、当前阶段和下一步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关键操作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展示所用能力和操作状态；敏感参数按规则保护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状态连续、进展明确、思考与操作可知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用户可随时了解当前状态、模型思考进展、关键操作、介入提示和最终结果。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状态有据、顺序一致、断点可续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状态和操作以真实事件为准；模型思考过程按配置和权限展示，敏感信息按规则保护。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设计依据：运行状态、过程记录、用户输入与结果证据相关设计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B3A3E-41EB-4FF8-8CAA-3AFD8BC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9525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可解释：说明为何这样处理、
结论依据何在</a:t>
            </a:r>
          </a:p>
        </p:txBody>
      </p:sp>
      <p:cxnSp>
        <p:nvCxnSpPr>
          <p:cNvPr id="108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09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F148-36FE-41D0-A0E9-F91C9A3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4B95-121C-4727-94BD-AFA3824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呈现模型思考过程，并说明关键结论的信息依据、选择理由、结果证据和验证程度。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22207-E02C-4D38-B745-03DA6BB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BBC5-446B-4F5F-A361-B7EA3F1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帮助用户判断结论是否可信、识别尚未验证的假设，并决定是否需要补充信息或人工复核。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9335-4A28-43FB-8861-ADAD388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怎么做：将模型思考、信息取舍、能力选择、执行结果和验证状态连接成可核查的结论证据链</a:t>
            </a:r>
          </a:p>
        </p:txBody>
      </p:sp>
      <p:cxnSp>
        <p:nvCxnSpPr>
          <p:cNvPr id="115" name=""/>
          <p:cNvCxnSpPr/>
          <p:nvPr/>
        </p:nvCxnSpPr>
        <p:spPr>
          <a:xfrm xmlns:a="http://schemas.openxmlformats.org/drawingml/2006/main">
            <a:off x="571500" y="247650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5DCF-056A-469D-B888-E1FA426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2A63-3C4D-4754-B071-F39D6C6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E744-CE10-4112-97DF-D0C0F3F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69070-6BBF-4E00-8643-B0D9D89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AE29D-0A6B-44A1-B4C9-ADB8385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信息依据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5AC04-3957-4471-A160-50ED4CF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依据来自哪些信息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23EE-3DB4-4AA7-8FF4-059B5A1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说明使用了哪些信息，哪些信息未采用或降级使用，以及相应原因。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2B45-6715-43AB-AE7F-3BD532D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决策理由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3723C-2F6E-4127-ADEE-E93CB04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为何采用这项能力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3140-7BC5-46C3-AB3C-7ADBD32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说明为何采用相关查询、分析或验证能力，并区分“选择”与“执行”。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8977-389C-492C-87EC-CF0FDAA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结果证据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CF4AA-B695-4ABD-ADE1-CC22ADE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结论依据是什么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8E7A6-75C5-4B03-8ACD-5D14DC9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把关键结果与最终结论建立明确对应关系，只展示必要且安全的内容。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6F5C9-AE46-4B3A-8F22-FBC2CCB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验证程度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38D93-0B13-4EA8-A420-AFFCC2A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结论验证到什么程度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D8703-7E47-464C-AAA4-24CC5A4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区分智能体判断、工具执行、系统验证和人工确认，明确标注未验证或降级部分。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78E78-40D8-4A3D-A696-EA18C0B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000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82369-9716-4978-9F56-D930A2B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5A569-A899-43A4-8226-780D508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做成什么样：结论可核查、可复核、可纠正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4C6FA-015C-40BC-9DAA-5A5D39E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647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用户能够了解模型如何形成判断，核查依据、选择理由和未验证环节；发现偏差时，可补充信息或复核。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AB498-4C60-4C97-BD34-08885AB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3990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FC20-4176-4B18-AF0E-228C769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到什么程度：重要结论均有依据和验证状态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04BB0-F7E7-4039-959C-B69F1ED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48300"/>
            <a:ext cx="3524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重要结论可追溯到对应信息和结果；未验证或降级部分明确标注；任务完成不等于结论正确。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2F053-A78F-4E03-9693-A21FF6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依据：信息取舍、能力选择、执行轨迹和结果验证设计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D86A-4615-4B7C-8F2D-BF4330F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064610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69CEAD-7DE2-41AF-A0E3-B3EC6A54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00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可观测：让平台异常能够及时发现、
快速定位</a:t>
            </a:r>
          </a:p>
        </p:txBody>
      </p:sp>
      <p:cxnSp>
        <p:nvCxnSpPr>
          <p:cNvPr id="129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30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6C208-C1E8-480A-94F2-5130E8C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9F6C8-DD16-4FD8-AD37-3A1737BF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将智能体运行情况转化为可检索、可关联、可衡量的诊断信息，用于保障平台稳定运行。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1291F-FADC-4238-9DCC-C5638989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2D63C-4480-402B-8A42-93E85249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支持快速发现异常、判断影响范围、定位故障与耗时环节，并验证恢复是否有效。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69787-09F1-49D0-8443-A1B1580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怎么做：使用同一运行标识串联各环节，统一形成日志、指标、调用轨迹和健康信息</a:t>
            </a:r>
          </a:p>
        </p:txBody>
      </p:sp>
      <p:cxnSp>
        <p:nvCxnSpPr>
          <p:cNvPr id="136" name=""/>
          <p:cNvCxnSpPr/>
          <p:nvPr/>
        </p:nvCxnSpPr>
        <p:spPr>
          <a:xfrm xmlns:a="http://schemas.openxmlformats.org/drawingml/2006/main">
            <a:off x="2838450" y="3390900"/>
            <a:ext cx="266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A7"/>
            </a:solidFill>
            <a:prstDash val="solid"/>
          </a:ln>
        </p:spPr>
      </p:cxnSp>
      <p:cxnSp>
        <p:nvCxnSpPr>
          <p:cNvPr id="137" name=""/>
          <p:cNvCxnSpPr/>
          <p:nvPr/>
        </p:nvCxnSpPr>
        <p:spPr>
          <a:xfrm xmlns:a="http://schemas.openxmlformats.org/drawingml/2006/main">
            <a:off x="8610600" y="3390900"/>
            <a:ext cx="266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A7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DB363-DA51-4C20-8BF0-F90AECD1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69C7D-B63C-49D1-A4AE-66EF1765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41344-921D-45A1-A24F-635B2A2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9526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记录真实运行情况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CF024-F9CD-4D48-8894-4CE0ECA9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9526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8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请求状态、模型调用、能力执行、数据访问、结果传输、耗时和依赖健康。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75868-C7D6-4A60-89AD-7998FCD9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25622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E2E06-D6C6-454D-A3C6-97AEB27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1EAB1-1F54-4DE1-9C25-21EEE404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336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16D50-9232-4534-881F-4E44A38B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57500"/>
            <a:ext cx="2143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说明发生了什么、结果如何和原因。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9DADA-A38E-4A7D-8BDD-E0ADF8A7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62200"/>
            <a:ext cx="28289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1935C-8A54-4DC7-B1BA-A87245C6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622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DCDFF-62A3-40B7-BAA2-84B1C86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336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指标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7AA95-EFCC-4B4E-8668-D4ED9CD6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575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反映数量、耗时、错误、容量和变化趋势。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71063-7F9C-4E42-B4A7-F0231939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67100"/>
            <a:ext cx="25622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00256-4381-4F85-BCCE-2C660707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67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74C64-69E3-4867-9603-3AFB51F8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调用轨迹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13183-88A9-4209-8114-F16D2122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2143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还原各环节先后关系，定位故障和慢点。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C5E1A-26A8-45E6-A431-1A8D58A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67100"/>
            <a:ext cx="28289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A5A01-6D39-490D-9ECD-B7073FFC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67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BFBEC-846E-4ECB-8DBD-CE04C74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385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02C0F-792C-4BDF-841A-EE3F35F3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624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判断依赖是否正常、哪里退化、是否恢复。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354EF-4D22-450C-B26B-80CD29C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5"/>
          </a:solidFill>
          <a:ln xmlns:a="http://schemas.openxmlformats.org/drawingml/2006/main" w="0">
            <a:solidFill>
              <a:srgbClr val="D9F0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C3D66-7817-4375-A308-62F7845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13806-72E5-4A02-B87B-1247F89A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38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诊断视图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8B078-63FE-49A0-8132-119B74C1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还原单次问题
判断整体趋势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E6A09A-4BAF-49A5-B0E5-8C71693A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238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同一运行可贯通查询；所有信息先安全处理，再用于检索和分析。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8E12BD-1DAB-4DD2-BFBB-8A8BED36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541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49D8C3-4959-47EC-B2A1-F1DD9D5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1FEB7D-B1C8-4B23-B399-E1504821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D01F48-28B8-473F-B0FC-6CB86E95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单次问题可还原，整体健康可判断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6C4CDF-EADC-4A2F-AAD0-ED5C9A91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能够定位失败位置、主要耗时和影响范围，并观察容量、错误和恢复趋势。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F855BF-BD6C-4CED-ABD7-567E3F5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563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89112-E589-4ED9-94F2-EE12B5CD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4A0797-E05F-493C-AD31-49B8EC66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9CD55A-C761-4ED0-9331-7DC1978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514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跨环节可关联，异常与慢点可定位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ED37C7-E51E-43B4-9701-0DC87ED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同一运行可贯通查询；敏感信息统一脱敏；避免过细、过多的标识；监测故障不改变业务结果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0CD829-7620-472C-9FDB-E7FE34D9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设计依据：结构化日志、稳定关联标识、运行指标、链路追踪、健康检查和统一脱敏设计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5D38DA-63F8-44C2-A0BD-A0A56621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546523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CD142B-C1C3-4043-B992-8DEA4BC3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9525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可审计：形成并上报AI资源访问记录，
为责任追溯和法律合规提供证据基础</a:t>
            </a:r>
          </a:p>
        </p:txBody>
      </p:sp>
      <p:cxnSp>
        <p:nvCxnSpPr>
          <p:cNvPr id="306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307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0D6B2-BC15-4DCC-BD65-A969C185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2C133-EDE9-4025-8E70-BD4C5B0B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在关键节点形成可关联、可脱敏、可上报的标准审计事件。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89FF1-F16C-48FD-8A9B-AEBF8B7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43F43-FD80-4BE0-8D31-94184C51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为安全治理和事件复盘提供依据，并为适用法律法规、客户制度和监管核查提供合规证据基础。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A6785-2A0A-43FD-B811-4749434E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怎么做：当前项目采集最小必要事实并形成标准事件上报；外部审计平台负责接收、管理和使用</a:t>
            </a:r>
          </a:p>
        </p:txBody>
      </p:sp>
      <p:cxnSp>
        <p:nvCxnSpPr>
          <p:cNvPr id="313" name=""/>
          <p:cNvCxnSpPr/>
          <p:nvPr/>
        </p:nvCxnSpPr>
        <p:spPr>
          <a:xfrm xmlns:a="http://schemas.openxmlformats.org/drawingml/2006/main">
            <a:off x="4591050" y="3390900"/>
            <a:ext cx="266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A7"/>
            </a:solidFill>
            <a:prstDash val="solid"/>
          </a:ln>
        </p:spPr>
      </p:cxnSp>
      <p:cxnSp>
        <p:nvCxnSpPr>
          <p:cNvPr id="314" name=""/>
          <p:cNvCxnSpPr/>
          <p:nvPr/>
        </p:nvCxnSpPr>
        <p:spPr>
          <a:xfrm xmlns:a="http://schemas.openxmlformats.org/drawingml/2006/main">
            <a:off x="7048500" y="3390900"/>
            <a:ext cx="266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A7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3A0ED-DBD7-410E-9AE1-EC0435FD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20097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8C533-86F2-4547-9097-4AAE1AAF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FA164-FD10-4962-A275-BC36C217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关键节点采集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BB8DC-B42A-4F1E-B582-4A29F887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覆盖身份确认、资源访问、能力执行、人工介入和任务结束。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23F4C-A8D5-4966-813E-436AE05E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62200"/>
            <a:ext cx="20097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7CBBE-FD4F-40C0-BDF4-00DF012B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622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DED28-EF76-40F7-8C55-75C60880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336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最小必要校验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07FC4-6827-4F43-89EE-021C4E32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5750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只形成责任追溯和合规所需的必要事实。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F1767-1B66-4E89-A518-1B5CFAF1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20097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BE2B6-E308-470C-9745-8D0C4EE3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2448E-C8CA-47C6-BA13-FDDB8A86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稳定关联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77936-50F4-4FC6-9424-328EC881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使用运行标识关联主体、资源、操作和结果。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A991B-9FF8-45D8-82FE-DB958475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67100"/>
            <a:ext cx="20097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C50AA-B5E3-49AB-9D44-45AA204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67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767DB-E472-4F14-A3B1-44FB4E44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6385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脱敏与上报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B15C4-AA1A-4992-A94E-A0933311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6240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脱敏后按统一接口上报。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34DE6-6A3F-4F3B-8BD1-ED52EC3B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622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0E834-A2D0-4F71-9A77-92A8A2B0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622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EC65AD-B953-4BDE-A8DB-A5C99CA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标准审计事件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AECDC-DE97-456B-BEE4-49BC75C7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1809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8"/>
                </a:solidFill>
                <a:latin typeface="Microsoft YaHei"/>
                <a:ea typeface="Microsoft YaHei"/>
                <a:cs typeface="Microsoft YaHei"/>
              </a:defRPr>
            </a:pPr>
            <a:r>
              <a:t>主体、时间、用途
权限、操作、AI资源版本
结果与人工处置</a:t>
            </a:r>
          </a:p>
        </p:txBody>
      </p:sp>
      <p:cxnSp>
        <p:nvCxnSpPr>
          <p:cNvPr id="335" name=""/>
          <p:cNvCxnSpPr/>
          <p:nvPr/>
        </p:nvCxnSpPr>
        <p:spPr>
          <a:xfrm xmlns:a="http://schemas.openxmlformats.org/drawingml/2006/main">
            <a:off x="5048250" y="3790950"/>
            <a:ext cx="18097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2505B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8BB83-4A76-4BF3-924F-7490C5E3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CE5EB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统一结构 · 关联 · 脱敏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7CF2E5-A36C-46AE-B98B-680C125A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62200"/>
            <a:ext cx="2152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360B31-E850-4BCA-BF67-A1394E1C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1762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接收与校验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B6A664-4D9B-456E-AD22-C6AFA93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762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检查事件完整性和来源可信度。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5A2E64-D792-4D35-8382-63D71A86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2152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6FCDEE-08EC-4DE9-B638-320D6FC8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33650"/>
            <a:ext cx="1762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留存与防篡改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1F9551-AE31-441C-B40B-99A01343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0"/>
            <a:ext cx="1762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按合规策略保存并保护记录。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0BC3BC-C48D-47F5-95E6-98F1DC69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67100"/>
            <a:ext cx="2152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9D7A79-815F-41FC-8C91-5D12C29E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1762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查询与归档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18F2D2-0F90-4982-B67F-34B1C00A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62400"/>
            <a:ext cx="1762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支持检索、导出和归档管理。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581E2-BA52-4ACF-A95C-ACE5F08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2152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4DD3A1-4F66-4CFE-9676-E2DC3EEA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38550"/>
            <a:ext cx="1762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合规核查与举证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AACB8F-1BD1-4A32-BB30-A4550A84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2400"/>
            <a:ext cx="1762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按权限提供核查和监管证据。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3A90F6-E95E-4DF5-948F-37A43AD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541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19A191-B35D-42F8-99AE-9D17A3FF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4A32F3-EC76-4DBB-889F-6221373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CE73FD-74D7-43F3-88B9-1B0775EF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AI资源访问有记录，责任链条可追溯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96147B-688B-4BA1-A619-BCA16DBE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关键操作、授权依据、执行结果和人工处置能够按运行实例关联核查。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5CDE31-6305-45C3-8518-E6EFBB6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563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C765EC-9FB4-43D7-892D-68D4A8DE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88188F-F615-4683-A5B5-6ED59B50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790BD0-0432-420F-8760-BB6B8811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514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最小必要、职责分离、合规可扩展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5ACA21-7EE8-4454-8A48-9C63DCBF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本项目仅形成并上报必要事件；留存、防篡改、查询归档和合规管理由外部平台负责。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6E4D30-4DD8-4A30-B134-2EF811A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法规参考：欧盟《人工智能法案》（适用的高风险AI系统）、《生成式人工智能服务管理暂行办法》；具体要求按场景评估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C732F9-40AF-4B9D-9391-07E45A97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678113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716F7-84AC-4DE4-9EB8-DD5731E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四类能力已有技术基础，
用户解释、生产运维和合规治理仍需收口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5F064-8699-4624-AD0F-BF610B7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BECE-9633-44B4-9D77-015F43F6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已具备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FA874-EB2A-424A-9478-96C292A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5BEC-11FC-43A3-9EC8-3FDDE34A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77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优化重点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9DBC0-88C5-496D-88DA-A7217A9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8132C-A35D-4682-BF50-B0AEC56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边界/决策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2E125-6FBC-4A73-B7ED-19A5E71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6A345-9F1C-4969-AB2A-EE7708C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0F0D0-F589-4F2A-B5CD-2D6E046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24025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已具备基础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232C1-CBAE-4FE9-84B8-5D64FAC4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24025"/>
            <a:ext cx="2714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当前优化重点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0809E-023C-4DB0-8DDC-2E9ABC6C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24025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设计边界与待决策</a:t>
            </a:r>
          </a:p>
        </p:txBody>
      </p:sp>
      <p:cxnSp>
        <p:nvCxnSpPr>
          <p:cNvPr id="226" name=""/>
          <p:cNvCxnSpPr/>
          <p:nvPr/>
        </p:nvCxnSpPr>
        <p:spPr>
          <a:xfrm xmlns:a="http://schemas.openxmlformats.org/drawingml/2006/main">
            <a:off x="457200" y="1619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0"/>
            </a:solidFill>
            <a:prstDash val="solid"/>
          </a:ln>
        </p:spPr>
      </p:cxnSp>
      <p:cxnSp>
        <p:nvCxnSpPr>
          <p:cNvPr id="227" name=""/>
          <p:cNvCxnSpPr/>
          <p:nvPr/>
        </p:nvCxnSpPr>
        <p:spPr>
          <a:xfrm xmlns:a="http://schemas.openxmlformats.org/drawingml/2006/main">
            <a:off x="457200" y="2000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228" name=""/>
          <p:cNvCxnSpPr/>
          <p:nvPr/>
        </p:nvCxnSpPr>
        <p:spPr>
          <a:xfrm xmlns:a="http://schemas.openxmlformats.org/drawingml/2006/main">
            <a:off x="457200" y="2762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229" name=""/>
          <p:cNvCxnSpPr/>
          <p:nvPr/>
        </p:nvCxnSpPr>
        <p:spPr>
          <a:xfrm xmlns:a="http://schemas.openxmlformats.org/drawingml/2006/main">
            <a:off x="457200" y="3524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230" name=""/>
          <p:cNvCxnSpPr/>
          <p:nvPr/>
        </p:nvCxnSpPr>
        <p:spPr>
          <a:xfrm xmlns:a="http://schemas.openxmlformats.org/drawingml/2006/main">
            <a:off x="457200" y="4286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231" name=""/>
          <p:cNvCxnSpPr/>
          <p:nvPr/>
        </p:nvCxnSpPr>
        <p:spPr>
          <a:xfrm xmlns:a="http://schemas.openxmlformats.org/drawingml/2006/main">
            <a:off x="457200" y="5048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81BB6-C18D-442F-8ED8-D56BFD86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EEFCC-57D9-4CCC-9606-AD91AD1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511EF-A46E-4CDC-B212-2DC81966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ED5DA-679D-4E6D-98BF-51095F66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过程可视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6900E-9B0F-495D-87CF-B69DC53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网络运维人员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CA5FA-2DA3-41B0-B1E3-D30AB8D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50AA1-D739-434C-AD99-791FBB69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76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状态投影与过程视图已具备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254CF-5808-4ECF-97FB-C7BDF50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43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已可展示请求、模型处理、能力调用、等待输入、降级和终态。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B6384-FB52-498F-942D-BD9C5EA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0B3DA-1D2C-4151-B21B-8743EECA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76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提升网络运维任务可读性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3010E-094D-4EBC-830A-C1028C7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统一阶段名称，补充介入提示、异常处置和下一步。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AE505-C50C-4C97-B143-EDB9C122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6477F2-6031-4C84-956F-2659025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状态事实与思考过程分开呈现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82859-58C1-41BB-BBAE-42220BC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43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状态和操作以系统事件为准；模型思考过程按配置和权限展示。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C2D61-3CCD-4CA6-89EE-426EF25B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7CE9B5-53B7-4E93-9A99-36A3570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网络运维人员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BB0D8-0127-415C-92B1-F6519CF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12097-D5B9-4EAC-AE59-5797D98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38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思考过程与解释性事实已具备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1D870-7946-48AA-88D3-C976771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已有模型思考过程、信息取舍、能力选择、执行结果、来源引用和安全原因码。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73809E-EFD0-486C-9D0E-E2C92F29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868FA8-24F6-4184-A886-9FA9B54E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建设思考与结论证据视图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7E7855-B078-4298-9E01-850DAC4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05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统一呈现思考过程、依据、选择理由、结果引用及验证状态。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6953E2-A7D1-4736-8A0C-2F10F15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5D98CE-C9F4-414D-90B4-37595AE8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思考过程可见，展示范围受控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DFAFB1-8447-4AA7-9ABD-0238FF37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05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任务结束不等于结论正确；思考过程按配置和权限展示，敏感内容仍按安全规则处理。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1B94D-8A80-4B7C-AC4A-72C7F12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可观测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F134F5-C365-491C-96DF-D7FCCBD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平台运维人员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DF7E0D-80E1-4845-9A35-5DDDDEAE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B0550A-F425-4934-8486-BC990975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00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基础观测和开发诊断已具备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580EA4-DE53-43D3-8E1D-DF56680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已有日志、指标、追踪、健康检查及单次运行过程图。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8901D2-6AC6-41D5-B501-28838E8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7D93F-64C0-4B15-B26F-3F47E06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落实生产级本地日志治理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38CF76-A8B2-4698-A0C5-0E72F589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67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方案已形成；统一格式、事件覆盖、轮转、压缩和保留仍在实施。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81A7E3-76C9-4F5E-9297-8273324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5D9011-E2B5-46DC-91CA-DC384BD4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集中运维需单独立项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1653A3-F02C-4894-8FFD-A15DC9B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67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远程检索、告警看板、容量水位和远端运维平台不在当前范围。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2C009A-3A5C-4F02-A6ED-944ACD2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可审计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72DFEF-E980-43A9-A066-1C9A4E6F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治理与开发人员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8C3D27-3A95-41D3-B088-774D53F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AA7F36-AD0D-4130-A4BB-97C38F2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62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审计事件上报边界已明确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73C2E1-E326-4E2E-9AFB-6E19D84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29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本项目负责形成、关联、脱敏并上报，事件管理不在当前项目范围。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50772A-A40A-4731-955E-8AC4EBA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3F7859-FB58-4B37-8513-B95A4873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补齐AI资源访问事件覆盖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E7AE6E-9F7E-48C4-8E77-E8C2694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29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记录资源标识及版本、访问主体、权限与用途、操作结果和人工处置。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9C2913-B9D6-4B8F-9868-D42427B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6FE00D-3C5C-4AA2-B236-BD81EC29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外部平台承担合规管理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CFC48C-4EFD-470A-B32D-9C18296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29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接收、留存、防篡改、查询、归档、期限策略和监管举证不由本项目负责。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719A63-0C62-4857-85A2-3FC5F382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建议本阶段确认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43BC32-034C-4C39-829E-B6191759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904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① 优化过程体验和结论证据视图；② 补齐AI资源访问事件并完成上报对接；③ 外部平台明确事件管理与合规策略。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83E0F7-8CC2-428C-911E-D6D56317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职责边界：当前项目负责审计事件形成与上报；事件管理、留存和合规举证属于外部平台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33C689-CEEC-4B0F-994D-701EE459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775292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2026-07-15T09:44:21.4370000Z</dcterms:created>
  <dcterms:modified xsi:type="dcterms:W3CDTF">2026-07-15T09:44:21.4370000Z</dcterms:modified>
</coreProperties>
</file>