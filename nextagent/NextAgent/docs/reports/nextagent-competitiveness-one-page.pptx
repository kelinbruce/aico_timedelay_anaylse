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1eeb305b3c4a35" /><Relationship Type="http://schemas.openxmlformats.org/officeDocument/2006/relationships/extended-properties" Target="/docProps/app.xml" Id="Refbb1eaa26f74170" /><Relationship Type="http://schemas.openxmlformats.org/officeDocument/2006/relationships/officeDocument" Target="/ppt/presentation.xml" Id="Rf0e0984a40c34e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92a15e80d34c28"/>
  </p:sldMasterIdLst>
  <p:notesMasterIdLst>
    <p:notesMasterId xmlns:r="http://schemas.openxmlformats.org/officeDocument/2006/relationships" r:id="Rfd510838f4704a4b"/>
  </p:notesMasterIdLst>
  <p:sldIdLst>
    <p:sldId xmlns:r="http://schemas.openxmlformats.org/officeDocument/2006/relationships" id="256" r:id="R93b6213ec2e54f78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0c28f5a77b474c" /><Relationship Type="http://schemas.openxmlformats.org/officeDocument/2006/relationships/slideMaster" Target="/ppt/slideMasters/slideMaster1.xml" Id="Rae92a15e80d34c28" /><Relationship Type="http://schemas.openxmlformats.org/officeDocument/2006/relationships/notesMaster" Target="/ppt/notesMasters/notesMaster1.xml" Id="Rfd510838f4704a4b" /><Relationship Type="http://schemas.openxmlformats.org/officeDocument/2006/relationships/presProps" Target="/ppt/presProps.xml" Id="Rd0161381abcf4c27" /><Relationship Type="http://schemas.openxmlformats.org/officeDocument/2006/relationships/tableStyles" Target="/ppt/tableStyles.xml" Id="Re2cafef067564ad4" /><Relationship Type="http://schemas.openxmlformats.org/officeDocument/2006/relationships/slide" Target="/ppt/slides/slide1.xml" Id="R93b6213ec2e54f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800a4f8a7140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9d85ee138f4441" /><Relationship Type="http://schemas.openxmlformats.org/officeDocument/2006/relationships/notesMaster" Target="/ppt/notesMasters/notesMaster1.xml" Id="R7715bccefab440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c78dcbd7e45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b35ce790814ecf" /><Relationship Type="http://schemas.openxmlformats.org/officeDocument/2006/relationships/slideLayout" Target="/ppt/slideLayouts/slideLayout1.xml" Id="R6eade6390a3e4f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ade6390a3e4f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ae37f3fbc46e7" /><Relationship Type="http://schemas.openxmlformats.org/officeDocument/2006/relationships/notesSlide" Target="/ppt/notesSlides/notesSlide1.xml" Id="R70e02dc1d4ef4a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FA9DB-1E94-43C1-8837-2CBCF358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1047750"/>
            <a:ext cx="2000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947E0-1761-4371-91A5-871BC7B1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"/>
            <a:ext cx="2286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CE0BA-8005-4C96-9B1C-E812A1FE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81125"/>
            <a:ext cx="2952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07755-06EE-48D2-86B4-D0414A55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"/>
            <a:ext cx="2476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2081E-ABE0-4528-98EE-63F1913F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14450"/>
            <a:ext cx="2667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00644-D9B3-4174-9207-CE1BCF70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3048000"/>
            <a:ext cx="2000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5DFCF-E86D-4B07-8B0A-94B5D8A8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86000"/>
            <a:ext cx="2286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BD7F9-924E-4716-B419-80E0A73A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81375"/>
            <a:ext cx="2952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17960-9D11-493F-9CCD-0BCA0211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2476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270F3-3DFC-4A7C-815B-C7A78BB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14700"/>
            <a:ext cx="2667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D2593-9EE8-4FFA-8E89-345A9B8D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5143500"/>
            <a:ext cx="2000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BD911-633D-4D8D-A6EF-ABB0F1CC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2286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6D29C-7031-42BD-8040-AD114F57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76875"/>
            <a:ext cx="2952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1D9AF-CFC2-4091-BCE5-46960D7D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2476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4B94B-6F1F-47F5-A5DA-BF670CAB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10200"/>
            <a:ext cx="2667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3D7"/>
          </a:solidFill>
          <a:ln xmlns:a="http://schemas.openxmlformats.org/drawingml/2006/main" w="0">
            <a:solidFill>
              <a:srgbClr val="D0D3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B9F98-10B0-48D5-9E99-A8A371D6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7143750"/>
            <a:ext cx="16764000" cy="1714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0">
            <a:solidFill>
              <a:srgbClr val="EEC69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ACF13-BC1E-454C-8DC9-1784634B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" y="7524750"/>
            <a:ext cx="16383000" cy="1524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400050">
            <a:solidFill>
              <a:srgbClr val="D41C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4FE21-3E5D-4C06-9D1C-91305F1D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86750"/>
            <a:ext cx="152400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FD005-C48E-4DAA-A7A3-DF4D33D2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41C26"/>
                </a:solidFill>
              </a:defRPr>
            </a:pPr>
            <a:r>
              <a:rPr sz="1500" b="1">
                <a:solidFill>
                  <a:srgbClr val="D41C26"/>
                </a:solidFill>
              </a:rPr>
              <a:t>NextAgent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08870-9DAD-42D7-94AC-4ADA70F0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86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41C26"/>
                </a:solidFill>
              </a:defRPr>
            </a:pPr>
            <a:r>
              <a:rPr sz="2850" b="1">
                <a:solidFill>
                  <a:srgbClr val="D41C26"/>
                </a:solidFill>
              </a:rPr>
              <a:t>网络智能体框架竞争力汇报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D6A832-DC57-4436-88C1-2A1F0AA6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E3138"/>
                </a:solidFill>
              </a:defRPr>
            </a:pPr>
            <a:r>
              <a:rPr sz="1350">
                <a:solidFill>
                  <a:srgbClr val="2E3138"/>
                </a:solidFill>
              </a:rPr>
              <a:t>COMPETITIVENESS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B94960-F9A8-4F39-A7AF-550000DD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484C54"/>
                </a:solidFill>
              </a:defRPr>
            </a:pPr>
            <a:r>
              <a:rPr sz="1200">
                <a:solidFill>
                  <a:srgbClr val="484C54"/>
                </a:solidFill>
              </a:rPr>
              <a:t>电信级 · 可治理 · 可交付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D0F35-0774-4323-B150-F3B70A3C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628650"/>
            <a:ext cx="2476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C25F1-B816-41D6-A054-18E913C3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141351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AD0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F1A8C0-F85E-4F66-B73C-52355743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0848C"/>
                </a:solidFill>
              </a:defRPr>
            </a:pPr>
            <a:r>
              <a:rPr sz="1050" b="1">
                <a:solidFill>
                  <a:srgbClr val="80848C"/>
                </a:solidFill>
              </a:rPr>
              <a:t>WHY / 目标牵引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EBC75D-648F-44FD-A79E-535EF6DD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41C26"/>
                </a:solidFill>
              </a:defRPr>
            </a:pPr>
            <a:r>
              <a:rPr sz="2100" b="1">
                <a:solidFill>
                  <a:srgbClr val="D41C26"/>
                </a:solidFill>
              </a:rPr>
              <a:t>核心目标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81242-E57A-45D5-B10E-3017BBE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990600"/>
            <a:ext cx="9525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EE2"/>
          </a:solidFill>
          <a:ln xmlns:a="http://schemas.openxmlformats.org/drawingml/2006/main" w="0">
            <a:solidFill>
              <a:srgbClr val="DBDE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82B404-ED8E-4B14-8A75-E7E1DBFB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028700"/>
            <a:ext cx="38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152650-55BC-4FE6-B0F0-3D4A94D4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009650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3138"/>
                </a:solidFill>
              </a:defRPr>
            </a:pPr>
            <a:r>
              <a:rPr sz="1350" b="1">
                <a:solidFill>
                  <a:srgbClr val="2E3138"/>
                </a:solidFill>
              </a:rPr>
              <a:t>匹配模型技术演进，建设 LAM 编排 Skill、Tool、SubAgent 的框架，提升网络智能体的泛化性和智能感。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76FD2A-F7EF-4A3F-8791-82ADE470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295400"/>
            <a:ext cx="38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8EEB4E-3828-4E73-8654-F3438D37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276350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3138"/>
                </a:solidFill>
              </a:defRPr>
            </a:pPr>
            <a:r>
              <a:rPr sz="1350" b="1">
                <a:solidFill>
                  <a:srgbClr val="2E3138"/>
                </a:solidFill>
              </a:rPr>
              <a:t>实现电信级可靠性，支撑长时任务运行、人工接管、过程可观测、结论可解释和审计可追溯。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247C39-8C9C-47DD-A675-38896F30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62100"/>
            <a:ext cx="38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334D4F-F412-46FB-9550-B360E46F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43050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3138"/>
                </a:solidFill>
              </a:defRPr>
            </a:pPr>
            <a:r>
              <a:rPr sz="1350" b="1">
                <a:solidFill>
                  <a:srgbClr val="2E3138"/>
                </a:solidFill>
              </a:rPr>
              <a:t>形成受治理的能力接入底座，让管控单元、客户系统和业界新技术快速纳入网络运维智能体生态。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1E9253-8738-457D-9A73-E9992928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4400550" cy="3143250"/>
          </a:xfrm>
          <a:prstGeom xmlns:a="http://schemas.openxmlformats.org/drawingml/2006/main" prst="roundRect">
            <a:avLst>
              <a:gd name="adj" fmla="val 606"/>
            </a:avLst>
          </a:prstGeom>
          <a:solidFill xmlns:a="http://schemas.openxmlformats.org/drawingml/2006/main">
            <a:srgbClr val="FFFFFF">
              <a:alpha val="94118"/>
            </a:srgbClr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BB4B11-0866-4B8A-8355-B287540D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38350"/>
            <a:ext cx="4400550" cy="3143250"/>
          </a:xfrm>
          <a:prstGeom xmlns:a="http://schemas.openxmlformats.org/drawingml/2006/main" prst="roundRect">
            <a:avLst>
              <a:gd name="adj" fmla="val 606"/>
            </a:avLst>
          </a:prstGeom>
          <a:solidFill xmlns:a="http://schemas.openxmlformats.org/drawingml/2006/main">
            <a:srgbClr val="FFFFFF">
              <a:alpha val="94118"/>
            </a:srgbClr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5A55C4-E081-4B76-95BF-754265F1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38350"/>
            <a:ext cx="4400550" cy="3143250"/>
          </a:xfrm>
          <a:prstGeom xmlns:a="http://schemas.openxmlformats.org/drawingml/2006/main" prst="roundRect">
            <a:avLst>
              <a:gd name="adj" fmla="val 606"/>
            </a:avLst>
          </a:prstGeom>
          <a:solidFill xmlns:a="http://schemas.openxmlformats.org/drawingml/2006/main">
            <a:srgbClr val="FFFFFF">
              <a:alpha val="94118"/>
            </a:srgbClr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5E0933-D537-4152-8040-AAE52E2D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38350"/>
            <a:ext cx="44005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E8748"/>
          </a:solidFill>
          <a:ln xmlns:a="http://schemas.openxmlformats.org/drawingml/2006/main" w="0">
            <a:solidFill>
              <a:srgbClr val="CE874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652164-9E2A-44C9-B5E7-F03A67E7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38350"/>
            <a:ext cx="44005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12AE2-25F1-4954-BD10-1F45E3E5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41C26"/>
                </a:solidFill>
              </a:defRPr>
            </a:pPr>
            <a:r>
              <a:rPr sz="2175" b="1">
                <a:solidFill>
                  <a:srgbClr val="D41C26"/>
                </a:solidFill>
              </a:rPr>
              <a:t>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D58886-2E01-4AA3-8FD0-F47E7848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F86A27-1189-46B1-8102-3A0ACA7B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47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3138"/>
                </a:solidFill>
              </a:defRPr>
            </a:pPr>
            <a:r>
              <a:rPr sz="1800" b="1">
                <a:solidFill>
                  <a:srgbClr val="2E3138"/>
                </a:solidFill>
              </a:rPr>
              <a:t>业务诉求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E161B7-4988-464B-BE7D-5C087E3D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4057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EE2"/>
          </a:solidFill>
          <a:ln xmlns:a="http://schemas.openxmlformats.org/drawingml/2006/main" w="0">
            <a:solidFill>
              <a:srgbClr val="DBDE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27EDC9-8C0A-4BFA-9343-65E1881D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0576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F6F7F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CE0442-5D14-4530-9651-2E867F5D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8100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FA3EA0-8FA5-4DFB-BEE3-A091933D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8572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264612-0CC3-494B-A341-D44E3EA0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41C26"/>
                </a:solidFill>
              </a:defRPr>
            </a:pPr>
            <a:r>
              <a:rPr sz="1050" b="1">
                <a:solidFill>
                  <a:srgbClr val="D41C26"/>
                </a:solidFill>
              </a:rPr>
              <a:t>任务泛化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C6ED18-8A91-4EEB-9C2B-666D3526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908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84C54"/>
                </a:solidFill>
              </a:defRPr>
            </a:pPr>
            <a:r>
              <a:rPr sz="1050">
                <a:solidFill>
                  <a:srgbClr val="484C54"/>
                </a:solidFill>
              </a:rPr>
              <a:t>网络任务形态复杂：需要模型能按场景组合 Skill、Tool、SubAgent、知识检索和客户 API。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646758-89E3-498B-B77E-45618671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40576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F6F7F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881B02-08B6-493B-B9EA-A5248FB3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8100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C2EE7A-44DE-4E87-A999-16947641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8572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793A01-3AC8-4ED7-86AA-19A1F841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41C26"/>
                </a:solidFill>
              </a:defRPr>
            </a:pPr>
            <a:r>
              <a:rPr sz="1050" b="1">
                <a:solidFill>
                  <a:srgbClr val="D41C26"/>
                </a:solidFill>
              </a:rPr>
              <a:t>长时可靠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C30197-D895-48BE-9765-C50BB11C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623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84C54"/>
                </a:solidFill>
              </a:defRPr>
            </a:pPr>
            <a:r>
              <a:rPr sz="1050">
                <a:solidFill>
                  <a:srgbClr val="484C54"/>
                </a:solidFill>
              </a:rPr>
              <a:t>诊断不是一次问答：跨告警、KPI、拓扑、工单和工具执行时，需要可暂停、可恢复、终态一致。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B6D694-76D9-427E-9C9D-43FF6DF6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40576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F6F7F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89D470-B97E-4D0F-A459-EB288AF0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38100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8067A1-9C0D-4B92-B30F-CF0AC5EB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8572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D731C8-13AB-4A90-A962-F4D3FAC3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41C26"/>
                </a:solidFill>
              </a:defRPr>
            </a:pPr>
            <a:r>
              <a:rPr sz="1050" b="1">
                <a:solidFill>
                  <a:srgbClr val="D41C26"/>
                </a:solidFill>
              </a:rPr>
              <a:t>人机协同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BAC573-2502-4E59-860E-238C09D7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338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84C54"/>
                </a:solidFill>
              </a:defRPr>
            </a:pPr>
            <a:r>
              <a:rPr sz="1050">
                <a:solidFill>
                  <a:srgbClr val="484C54"/>
                </a:solidFill>
              </a:rPr>
              <a:t>高风险动作要可控：澄清、确认、授权、人工接管都要在同一运行生命周期内暂停、恢复和超时。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43E5C0-044F-40CC-9C56-D9686478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40576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F6F7F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F26BC8-D6CD-4C37-9499-953BCD01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38100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89FA06-56A7-41BB-B3BF-B2D8AF70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8572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8C06C8-2C3F-4FAE-ACA5-BC0CD073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41C26"/>
                </a:solidFill>
              </a:defRPr>
            </a:pPr>
            <a:r>
              <a:rPr sz="1050" b="1">
                <a:solidFill>
                  <a:srgbClr val="D41C26"/>
                </a:solidFill>
              </a:rPr>
              <a:t>生态接入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1DD56C-3AB6-4EB6-AD19-BC6CC27A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053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84C54"/>
                </a:solidFill>
              </a:defRPr>
            </a:pPr>
            <a:r>
              <a:rPr sz="1050">
                <a:solidFill>
                  <a:srgbClr val="484C54"/>
                </a:solidFill>
              </a:rPr>
              <a:t>能力来源持续变化：管控单元、客户系统、SOP、API 工具和业界新技术要快速接入且受治理。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C63E4A-8D16-4DC0-9D5C-56355E84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907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E8748"/>
                </a:solidFill>
              </a:defRPr>
            </a:pPr>
            <a:r>
              <a:rPr sz="2175" b="1">
                <a:solidFill>
                  <a:srgbClr val="CE8748"/>
                </a:solidFill>
              </a:rPr>
              <a:t>02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BECA87-0E3F-42B9-B07E-C54E84FC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E8748"/>
          </a:solidFill>
          <a:ln xmlns:a="http://schemas.openxmlformats.org/drawingml/2006/main" w="0">
            <a:solidFill>
              <a:srgbClr val="CE874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710604-5DF8-4FCD-98B9-58B403C7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3138"/>
                </a:solidFill>
              </a:defRPr>
            </a:pPr>
            <a:r>
              <a:rPr sz="1800" b="1">
                <a:solidFill>
                  <a:srgbClr val="2E3138"/>
                </a:solidFill>
              </a:rPr>
              <a:t>同类项目缺口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555E58-745E-4F87-93C4-7E460BE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19375"/>
            <a:ext cx="4057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EE2"/>
          </a:solidFill>
          <a:ln xmlns:a="http://schemas.openxmlformats.org/drawingml/2006/main" w="0">
            <a:solidFill>
              <a:srgbClr val="DBDEE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C3170B0-A142-4669-A996-F5ABE08A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24150"/>
            <a:ext cx="40576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8F5"/>
          </a:solidFill>
          <a:ln xmlns:a="http://schemas.openxmlformats.org/drawingml/2006/main" w="9525">
            <a:solidFill>
              <a:srgbClr val="EAD7C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2C48E0-4E5E-4487-BA9B-A5A136F7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8194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E3138"/>
                </a:solidFill>
              </a:defRPr>
            </a:pPr>
            <a:r>
              <a:rPr sz="3150" b="1">
                <a:solidFill>
                  <a:srgbClr val="2E3138"/>
                </a:solidFill>
              </a:rPr>
              <a:t>C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76047A-1BA2-48CE-B001-49D7EBA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09925"/>
            <a:ext cx="552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A8121C"/>
                </a:solidFill>
              </a:defRPr>
            </a:pPr>
            <a:r>
              <a:rPr sz="600" b="1">
                <a:solidFill>
                  <a:srgbClr val="A8121C"/>
                </a:solidFill>
              </a:rPr>
              <a:t>CODE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832D5E4-71A2-436F-B429-386AADF8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5626"/>
                </a:solidFill>
              </a:defRPr>
            </a:pPr>
            <a:r>
              <a:rPr sz="1200" b="1">
                <a:solidFill>
                  <a:srgbClr val="8B5626"/>
                </a:solidFill>
              </a:rPr>
              <a:t>Claude Code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FA27D4D-CE5E-4437-A0FD-4769CC1B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194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84C54"/>
                </a:solidFill>
              </a:defRPr>
            </a:pPr>
            <a:r>
              <a:rPr sz="975">
                <a:solidFill>
                  <a:srgbClr val="484C54"/>
                </a:solidFill>
              </a:rPr>
              <a:t>缺口：面向软件研发提效，不负责电信生产运维的工具治理、权限隔离、审计追溯和运行恢复。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B4B537-4D65-4A55-B1B3-98A7F0B5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86150"/>
            <a:ext cx="40576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8F5"/>
          </a:solidFill>
          <a:ln xmlns:a="http://schemas.openxmlformats.org/drawingml/2006/main" w="9525">
            <a:solidFill>
              <a:srgbClr val="EAD7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02154A8-2E14-425E-8C7E-CB6AB084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24300"/>
            <a:ext cx="3619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EC9E563-CC65-4D37-AF72-31362FC1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38550"/>
            <a:ext cx="428625" cy="3238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E874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84A208E-AD32-4202-9153-11DC9A4E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71925"/>
            <a:ext cx="552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A8121C"/>
                </a:solidFill>
              </a:defRPr>
            </a:pPr>
            <a:r>
              <a:rPr sz="600" b="1">
                <a:solidFill>
                  <a:srgbClr val="A8121C"/>
                </a:solidFill>
              </a:rPr>
              <a:t>CLAW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F288E07-A095-4EC5-9BE9-85E26DB7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7187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5626"/>
                </a:solidFill>
              </a:defRPr>
            </a:pPr>
            <a:r>
              <a:rPr sz="1200" b="1">
                <a:solidFill>
                  <a:srgbClr val="8B5626"/>
                </a:solidFill>
              </a:rPr>
              <a:t>OpenClaw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DA2FC0D-8E19-44AA-9E9E-0AA1E24D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814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84C54"/>
                </a:solidFill>
              </a:defRPr>
            </a:pPr>
            <a:r>
              <a:rPr sz="975">
                <a:solidFill>
                  <a:srgbClr val="484C54"/>
                </a:solidFill>
              </a:rPr>
              <a:t>缺口：通用入口、技能和多渠道有参考价值，但行业生产仍需重建权限、能力目录、审计和质量约束。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0497544-5F1A-4279-9C2A-0D8C92E0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48150"/>
            <a:ext cx="40576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8F5"/>
          </a:solidFill>
          <a:ln xmlns:a="http://schemas.openxmlformats.org/drawingml/2006/main" w="9525">
            <a:solidFill>
              <a:srgbClr val="EAD7C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283F66E-692F-4220-9D70-357FA48D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343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CE8748"/>
                </a:solidFill>
              </a:defRPr>
            </a:pPr>
            <a:r>
              <a:rPr sz="3000" b="1">
                <a:solidFill>
                  <a:srgbClr val="CE8748"/>
                </a:solidFill>
              </a:rPr>
              <a:t>H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076E536-6867-4C74-BE90-DF6CFB8D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33925"/>
            <a:ext cx="1905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939C252-C0BD-4014-94F1-E0071148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10125"/>
            <a:ext cx="552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8121C"/>
                </a:solidFill>
              </a:defRPr>
            </a:pPr>
            <a:r>
              <a:rPr sz="525" b="1">
                <a:solidFill>
                  <a:srgbClr val="A8121C"/>
                </a:solidFill>
              </a:rPr>
              <a:t>HERMES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582F3AA-4FAA-4C4C-AD58-070DD9B2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3387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5626"/>
                </a:solidFill>
              </a:defRPr>
            </a:pPr>
            <a:r>
              <a:rPr sz="1200" b="1">
                <a:solidFill>
                  <a:srgbClr val="8B5626"/>
                </a:solidFill>
              </a:rPr>
              <a:t>Hermes Agent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8D44F3-D46D-4762-9CAB-26BF048D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434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84C54"/>
                </a:solidFill>
              </a:defRPr>
            </a:pPr>
            <a:r>
              <a:rPr sz="975">
                <a:solidFill>
                  <a:srgbClr val="484C54"/>
                </a:solidFill>
              </a:rPr>
              <a:t>缺口：学习、记忆和 Skill 改进值得借鉴，但网络经验仍要结构化治理、授权隔离和可遗忘审计。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5967C0B-CFF7-4D3E-BDB7-5D071722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41C26"/>
                </a:solidFill>
              </a:defRPr>
            </a:pPr>
            <a:r>
              <a:rPr sz="2175" b="1">
                <a:solidFill>
                  <a:srgbClr val="D41C26"/>
                </a:solidFill>
              </a:rPr>
              <a:t>03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904C491-15C6-4719-B3B7-A5459A4B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52675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7C93458-4FEF-4F3B-A1F8-746F8465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247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3138"/>
                </a:solidFill>
              </a:defRPr>
            </a:pPr>
            <a:r>
              <a:rPr sz="1800" b="1">
                <a:solidFill>
                  <a:srgbClr val="2E3138"/>
                </a:solidFill>
              </a:rPr>
              <a:t>策略与竞争力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122AF38-2BFC-4BFE-9868-748487DC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19375"/>
            <a:ext cx="4057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EE2"/>
          </a:solidFill>
          <a:ln xmlns:a="http://schemas.openxmlformats.org/drawingml/2006/main" w="0">
            <a:solidFill>
              <a:srgbClr val="DBDEE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FCCE96C-77C4-4E31-82A8-99C85130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7000"/>
            <a:ext cx="40576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F6F7F9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09646C0-049D-488A-9B1E-04BDF2CB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874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2DBF38F-0A7A-43D6-ADE5-510DA858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051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84C54"/>
                </a:solidFill>
              </a:defRPr>
            </a:pPr>
            <a:r>
              <a:rPr sz="900">
                <a:solidFill>
                  <a:srgbClr val="484C54"/>
                </a:solidFill>
              </a:rPr>
              <a:t>面向 LAM 演进，把 Tool、Skill、SubAgent、RAG、记忆和客户 API 统一纳入 Capability 编排。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1F71944-4ACC-4059-A96D-1F4842F5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90850"/>
            <a:ext cx="40576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F6F7F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7CABDB8-B6CC-48CB-8FF8-66A6F10B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86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874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AD5E0FB-6860-49A2-8235-0FD41718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289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84C54"/>
                </a:solidFill>
              </a:defRPr>
            </a:pPr>
            <a:r>
              <a:rPr sz="900">
                <a:solidFill>
                  <a:srgbClr val="484C54"/>
                </a:solidFill>
              </a:rPr>
              <a:t>面向生产运行，让 runtime 拥有长任务生命周期、暂停恢复、人工输入、终态提交和可观测事实。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811D6FC-0560-4396-8732-8B8B4432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14700"/>
            <a:ext cx="40576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F6F7F9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7D7726B-F05D-4225-BC58-30B5D63E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874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6A11AB-34F2-4EBE-B646-FB5C9E77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528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84C54"/>
                </a:solidFill>
              </a:defRPr>
            </a:pPr>
            <a:r>
              <a:rPr sz="900">
                <a:solidFill>
                  <a:srgbClr val="484C54"/>
                </a:solidFill>
              </a:rPr>
              <a:t>面向生态接入，以 OpenSpec、Gateway、Sandbox 和验收门禁约束管控单元与新技术快速接入。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DE6F023-6832-4E4E-8640-8F73802C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57600"/>
            <a:ext cx="40576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FCCE518-7867-4A37-B631-B254D848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57600"/>
            <a:ext cx="7810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E68D5F2-5342-4A51-A561-30B5FABC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695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竞争力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F8E07C4-F1FC-4BDB-8FCE-F147901C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69570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差异化规格 / 量化口径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FBC0AB6-64B9-41D6-BD2B-97FFD53C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67150"/>
            <a:ext cx="40576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3FB12D1-02D7-4675-8D2F-97FD23E8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67150"/>
            <a:ext cx="7810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4494AFE-6AC4-4F75-88C1-B2EB8AE0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9052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41C26"/>
                </a:solidFill>
              </a:defRPr>
            </a:pPr>
            <a:r>
              <a:rPr sz="750" b="1">
                <a:solidFill>
                  <a:srgbClr val="D41C26"/>
                </a:solidFill>
              </a:rPr>
              <a:t>LAM 编排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AC7A8DD-EE7C-4485-9DA0-B4AF21F5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90525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4C54"/>
                </a:solidFill>
              </a:defRPr>
            </a:pPr>
            <a:r>
              <a:rPr sz="750" b="0">
                <a:solidFill>
                  <a:srgbClr val="484C54"/>
                </a:solidFill>
              </a:rPr>
              <a:t>Tool / Skill / Agent 三类能力；SubAgent 受治理调用。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1B59913-EE99-4844-AF95-BA8276B3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76700"/>
            <a:ext cx="40576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3EB8B27-001A-4A43-B651-23CAFCB6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76700"/>
            <a:ext cx="7810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7E43DEF-2343-4C76-923C-FDBCA42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148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41C26"/>
                </a:solidFill>
              </a:defRPr>
            </a:pPr>
            <a:r>
              <a:rPr sz="750" b="1">
                <a:solidFill>
                  <a:srgbClr val="D41C26"/>
                </a:solidFill>
              </a:rPr>
              <a:t>任务泛化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7AFE588-BDE3-42C8-9DF5-75DC97A0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11480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4C54"/>
                </a:solidFill>
              </a:defRPr>
            </a:pPr>
            <a:r>
              <a:rPr sz="750" b="0">
                <a:solidFill>
                  <a:srgbClr val="484C54"/>
                </a:solidFill>
              </a:rPr>
              <a:t>告警 / KPI / 拓扑 / 工单 / CLI/API / RAG / 记忆统一输入。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A3C14A7-F294-486F-9D59-6ACC2D9D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86250"/>
            <a:ext cx="40576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C84D8FA-2F93-4277-8075-8B584958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86250"/>
            <a:ext cx="7810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1EF1571-624D-475E-9C38-C2046DCE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3243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41C26"/>
                </a:solidFill>
              </a:defRPr>
            </a:pPr>
            <a:r>
              <a:rPr sz="750" b="1">
                <a:solidFill>
                  <a:srgbClr val="D41C26"/>
                </a:solidFill>
              </a:rPr>
              <a:t>长时可靠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B637FAA-B8D8-41FB-8238-169B6F8E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32435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4C54"/>
                </a:solidFill>
              </a:defRPr>
            </a:pPr>
            <a:r>
              <a:rPr sz="750" b="0">
                <a:solidFill>
                  <a:srgbClr val="484C54"/>
                </a:solidFill>
              </a:rPr>
              <a:t>lane 调度；cancel / retry / edit；terminal commit；stream replay。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8B0401C-8ACE-4E08-AB83-00AA37E8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495800"/>
            <a:ext cx="40576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C388395-9343-4CA0-A4A8-91ADFAE5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495800"/>
            <a:ext cx="7810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F1FE542-5C6E-4F59-9C45-1ABF78A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533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41C26"/>
                </a:solidFill>
              </a:defRPr>
            </a:pPr>
            <a:r>
              <a:rPr sz="750" b="1">
                <a:solidFill>
                  <a:srgbClr val="D41C26"/>
                </a:solidFill>
              </a:rPr>
              <a:t>人机接管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06A9537-656A-462E-813C-E97C5DFA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3390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4C54"/>
                </a:solidFill>
              </a:defRPr>
            </a:pPr>
            <a:r>
              <a:rPr sz="750" b="0">
                <a:solidFill>
                  <a:srgbClr val="484C54"/>
                </a:solidFill>
              </a:rPr>
              <a:t>3 类 PendingInput：QUESTION / CONFIRMATION / AUTHORIZATION。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ADD6DA4-B3FE-487F-96A9-1931CFE7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705350"/>
            <a:ext cx="40576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7FA3843-C9EA-4CF5-AE2A-C2271663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705350"/>
            <a:ext cx="7810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F127094-1D25-4FF5-91EE-573A92AD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7434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41C26"/>
                </a:solidFill>
              </a:defRPr>
            </a:pPr>
            <a:r>
              <a:rPr sz="750" b="1">
                <a:solidFill>
                  <a:srgbClr val="D41C26"/>
                </a:solidFill>
              </a:rPr>
              <a:t>隔离审计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B426DE-9BAA-46C2-94F9-021B893F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74345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4C54"/>
                </a:solidFill>
              </a:defRPr>
            </a:pPr>
            <a:r>
              <a:rPr sz="750" b="0">
                <a:solidFill>
                  <a:srgbClr val="484C54"/>
                </a:solidFill>
              </a:rPr>
              <a:t>2 层 Scope：Agent + Owner；Session/Run 固化 Agent。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4873987-3283-4A1C-BB30-F802AC90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14900"/>
            <a:ext cx="40576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B9B0A89-5C35-41A7-8A68-834350AC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14900"/>
            <a:ext cx="7810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5715">
            <a:solidFill>
              <a:srgbClr val="DBDEE2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D31B8F5-CCEA-46C6-82A6-BD6A51A0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9530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41C26"/>
                </a:solidFill>
              </a:defRPr>
            </a:pPr>
            <a:r>
              <a:rPr sz="750" b="1">
                <a:solidFill>
                  <a:srgbClr val="D41C26"/>
                </a:solidFill>
              </a:rPr>
              <a:t>快速接入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0CB54EE-AB41-4E6A-854B-1F45342B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95300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4C54"/>
                </a:solidFill>
              </a:defRPr>
            </a:pPr>
            <a:r>
              <a:rPr sz="750" b="0">
                <a:solidFill>
                  <a:srgbClr val="484C54"/>
                </a:solidFill>
              </a:rPr>
              <a:t>4 道门禁：OpenSpec / Gateway / Sandbox / schema+architecture。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5D0EA00-7F9A-4BDA-B48D-50CBFEB3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4135100" cy="180975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9525">
            <a:solidFill>
              <a:srgbClr val="EAD7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4CABD81-14B3-4A53-9ECC-EF26F57F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1C26"/>
                </a:solidFill>
              </a:defRPr>
            </a:pPr>
            <a:r>
              <a:rPr sz="1800" b="1">
                <a:solidFill>
                  <a:srgbClr val="D41C26"/>
                </a:solidFill>
              </a:rPr>
              <a:t>当前进展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886A659-F8D8-4AA1-BA71-64DEEF4C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721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848C"/>
                </a:solidFill>
              </a:defRPr>
            </a:pPr>
            <a:r>
              <a:rPr sz="900" b="1">
                <a:solidFill>
                  <a:srgbClr val="80848C"/>
                </a:solidFill>
              </a:rPr>
              <a:t>NOW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DABD3EE-09BE-439C-9CB5-8FB069F1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647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EE2"/>
          </a:solidFill>
          <a:ln xmlns:a="http://schemas.openxmlformats.org/drawingml/2006/main" w="0">
            <a:solidFill>
              <a:srgbClr val="DBDEE2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9CF962D-4140-49FC-A413-32E300F7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20383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F6F7F9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C0833FE-3CCB-464F-B3EB-BC2C032D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20383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C105002-387B-45AE-9944-56D8C56B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41C26"/>
                </a:solidFill>
              </a:defRPr>
            </a:pPr>
            <a:r>
              <a:rPr sz="1275" b="1">
                <a:solidFill>
                  <a:srgbClr val="D41C26"/>
                </a:solidFill>
              </a:rPr>
              <a:t>主链路成型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11B894C-5DA0-40B1-ACF6-572D808C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817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84C54"/>
                </a:solidFill>
              </a:defRPr>
            </a:pPr>
            <a:r>
              <a:rPr sz="900">
                <a:solidFill>
                  <a:srgbClr val="484C54"/>
                </a:solidFill>
              </a:rPr>
              <a:t>会话、提交、SSE/WS、历史、取消、重试、编辑、live-tail 和终态提交已进入稳定基线。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4EEE04A-55E1-4A52-AEE7-DEEEC400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000750"/>
            <a:ext cx="20383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F6F7F9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AA9A751-D8D4-4623-9A14-280CF18D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000750"/>
            <a:ext cx="20383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E8748"/>
          </a:solidFill>
          <a:ln xmlns:a="http://schemas.openxmlformats.org/drawingml/2006/main" w="0">
            <a:solidFill>
              <a:srgbClr val="CE8748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E877947-5412-4919-AA56-95A5C67E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150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E8748"/>
                </a:solidFill>
              </a:defRPr>
            </a:pPr>
            <a:r>
              <a:rPr sz="1275" b="1">
                <a:solidFill>
                  <a:srgbClr val="CE8748"/>
                </a:solidFill>
              </a:rPr>
              <a:t>平台能力铺底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DF6BD4F-E3F3-493D-BB52-9DC5B29D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817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84C54"/>
                </a:solidFill>
              </a:defRPr>
            </a:pPr>
            <a:r>
              <a:rPr sz="900">
                <a:solidFill>
                  <a:srgbClr val="484C54"/>
                </a:solidFill>
              </a:rPr>
              <a:t>Capability、RAG、长期记忆、风险治理、可观测、分享/标注/推荐问题和本地运行包已落地。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DA3FDCB-3D55-4FD9-8A5E-C84E3A2F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20383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F6F7F9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1A16FAC-2B1A-4799-8AB2-4898316D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20383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8121C"/>
          </a:solidFill>
          <a:ln xmlns:a="http://schemas.openxmlformats.org/drawingml/2006/main" w="0">
            <a:solidFill>
              <a:srgbClr val="A8121C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548892A-F3C7-4360-8B68-A06FC27B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1150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8121C"/>
                </a:solidFill>
              </a:defRPr>
            </a:pPr>
            <a:r>
              <a:rPr sz="1275" b="1">
                <a:solidFill>
                  <a:srgbClr val="A8121C"/>
                </a:solidFill>
              </a:rPr>
              <a:t>验证体系建立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676901F-90DA-48A3-A7B1-29195FBB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3817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84C54"/>
                </a:solidFill>
              </a:defRPr>
            </a:pPr>
            <a:r>
              <a:rPr sz="900">
                <a:solidFill>
                  <a:srgbClr val="484C54"/>
                </a:solidFill>
              </a:rPr>
              <a:t>contract、architecture、release package、security、resilience、P1/P2 场景门禁支撑可重复验收。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6A03D3E-B4C3-494D-9A3B-555AA1E1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05450"/>
            <a:ext cx="9525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EE2"/>
          </a:solidFill>
          <a:ln xmlns:a="http://schemas.openxmlformats.org/drawingml/2006/main" w="0">
            <a:solidFill>
              <a:srgbClr val="DBDEE2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A5BFEF7-6C7B-4894-B38C-16F7221A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1C26"/>
                </a:solidFill>
              </a:defRPr>
            </a:pPr>
            <a:r>
              <a:rPr sz="1800" b="1">
                <a:solidFill>
                  <a:srgbClr val="D41C26"/>
                </a:solidFill>
              </a:rPr>
              <a:t>下一步计划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9C13245-CEF2-4F00-9B71-51066C6B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5721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848C"/>
                </a:solidFill>
              </a:defRPr>
            </a:pPr>
            <a:r>
              <a:rPr sz="900" b="1">
                <a:solidFill>
                  <a:srgbClr val="80848C"/>
                </a:solidFill>
              </a:rPr>
              <a:t>NEXT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E053297-755B-43EA-851F-AAB4871E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48350"/>
            <a:ext cx="647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EE2"/>
          </a:solidFill>
          <a:ln xmlns:a="http://schemas.openxmlformats.org/drawingml/2006/main" w="0">
            <a:solidFill>
              <a:srgbClr val="DBDEE2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B23EB27-3088-4962-9540-6E0A710E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000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7129CD1-B41D-4816-8FD4-004433D9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0293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FFEC8AB-5BE5-4E4A-8B8B-B0226ADF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010275"/>
            <a:ext cx="595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84C54"/>
                </a:solidFill>
              </a:defRPr>
            </a:pPr>
            <a:r>
              <a:rPr sz="1125">
                <a:solidFill>
                  <a:srgbClr val="484C54"/>
                </a:solidFill>
              </a:rPr>
              <a:t>围绕网络诊断样板场景，补齐告警/KPI/拓扑/工单/工具链的端到端演示和客户系统适配。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9AC1E8E-DC84-4A2B-8EE1-0B542AD2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32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ED3CE38-5548-44C6-9604-6719A256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3531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1E15393-C32F-4EFD-99C3-9DE0283C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334125"/>
            <a:ext cx="595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84C54"/>
                </a:solidFill>
              </a:defRPr>
            </a:pPr>
            <a:r>
              <a:rPr sz="1125">
                <a:solidFill>
                  <a:srgbClr val="484C54"/>
                </a:solidFill>
              </a:rPr>
              <a:t>继续强化长期记忆、经验抽取、Skill 沉淀和领域知识治理，让专家经验形成可复用资产。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60DDD14-ADCE-476C-8C1B-D79EA057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648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F8500DA-1525-4AAA-A2F0-7B523697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6770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95D03D2-AF44-42B3-9907-1F18D451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657975"/>
            <a:ext cx="595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84C54"/>
                </a:solidFill>
              </a:defRPr>
            </a:pPr>
            <a:r>
              <a:rPr sz="1125">
                <a:solidFill>
                  <a:srgbClr val="484C54"/>
                </a:solidFill>
              </a:rPr>
              <a:t>把安全、容量、恢复、审计和可观测门禁沉淀成发布准入标准，支撑行业交付和二次开发生态。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C1DB12D-9622-4A84-AD53-B68A72AA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0"/>
            <a:ext cx="5619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FFFFFF"/>
                </a:solidFill>
              </a:defRPr>
            </a:pPr>
            <a:r>
              <a:rPr sz="675">
                <a:solidFill>
                  <a:srgbClr val="FFFFFF"/>
                </a:solidFill>
              </a:rPr>
              <a:t>参考：agentframework-tech-selection-decision-v7.html / observability-progress-one-page.html / NextAgent v2.0 Release Doc</a:t>
            </a:r>
          </a:p>
        </p:txBody>
      </p:sp>
    </p:spTree>
    <p:extLst>
      <p:ext uri="{BB962C8B-B14F-4D97-AF65-F5344CB8AC3E}">
        <p14:creationId xmlns:p14="http://schemas.microsoft.com/office/powerpoint/2010/main" val="1797025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2026-07-07T08:00:48.1610000Z</dcterms:created>
  <dcterms:modified xsi:type="dcterms:W3CDTF">2026-07-07T08:00:48.1610000Z</dcterms:modified>
</coreProperties>
</file>