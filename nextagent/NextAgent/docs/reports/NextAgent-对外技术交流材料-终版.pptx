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e11e13bcce47cd" /><Relationship Type="http://schemas.openxmlformats.org/officeDocument/2006/relationships/extended-properties" Target="/docProps/app.xml" Id="Rb8dfdbf168494a89" /><Relationship Type="http://schemas.openxmlformats.org/officeDocument/2006/relationships/officeDocument" Target="/ppt/presentation.xml" Id="Rc6434e36f1464e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75a45c3518462b"/>
  </p:sldMasterIdLst>
  <p:notesMasterIdLst>
    <p:notesMasterId xmlns:r="http://schemas.openxmlformats.org/officeDocument/2006/relationships" r:id="Re41ece3989914d1d"/>
  </p:notesMasterIdLst>
  <p:sldIdLst>
    <p:sldId xmlns:r="http://schemas.openxmlformats.org/officeDocument/2006/relationships" id="256" r:id="R436c5188826b4f92"/>
    <p:sldId xmlns:r="http://schemas.openxmlformats.org/officeDocument/2006/relationships" id="257" r:id="R241640d1d72a459f"/>
    <p:sldId xmlns:r="http://schemas.openxmlformats.org/officeDocument/2006/relationships" id="258" r:id="R3b947a7ac3834d03"/>
    <p:sldId xmlns:r="http://schemas.openxmlformats.org/officeDocument/2006/relationships" id="259" r:id="R3277110965744701"/>
    <p:sldId xmlns:r="http://schemas.openxmlformats.org/officeDocument/2006/relationships" id="260" r:id="R45942f3084504200"/>
    <p:sldId xmlns:r="http://schemas.openxmlformats.org/officeDocument/2006/relationships" id="261" r:id="R5e3a44145bfe4bb4"/>
    <p:sldId xmlns:r="http://schemas.openxmlformats.org/officeDocument/2006/relationships" id="262" r:id="Re849590a22fe4fa3"/>
    <p:sldId xmlns:r="http://schemas.openxmlformats.org/officeDocument/2006/relationships" id="263" r:id="R66d7f3b071964a71"/>
    <p:sldId xmlns:r="http://schemas.openxmlformats.org/officeDocument/2006/relationships" id="264" r:id="R88ec966d46914808"/>
    <p:sldId xmlns:r="http://schemas.openxmlformats.org/officeDocument/2006/relationships" id="265" r:id="Ra52d94b97b354427"/>
    <p:sldId xmlns:r="http://schemas.openxmlformats.org/officeDocument/2006/relationships" id="266" r:id="Rccad923aa72e475f"/>
    <p:sldId xmlns:r="http://schemas.openxmlformats.org/officeDocument/2006/relationships" id="267" r:id="Ra21db6fbddb642f3"/>
    <p:sldId xmlns:r="http://schemas.openxmlformats.org/officeDocument/2006/relationships" id="268" r:id="Refe568aa10c44cce"/>
    <p:sldId xmlns:r="http://schemas.openxmlformats.org/officeDocument/2006/relationships" id="269" r:id="R519d81f423914a40"/>
    <p:sldId xmlns:r="http://schemas.openxmlformats.org/officeDocument/2006/relationships" id="270" r:id="Re84f7baddd2e4bf6"/>
    <p:sldId xmlns:r="http://schemas.openxmlformats.org/officeDocument/2006/relationships" id="271" r:id="R9d2bb304bbb64609"/>
    <p:sldId xmlns:r="http://schemas.openxmlformats.org/officeDocument/2006/relationships" id="272" r:id="R3d98e440a1844a3a"/>
    <p:sldId xmlns:r="http://schemas.openxmlformats.org/officeDocument/2006/relationships" id="273" r:id="Ra10a375616304c84"/>
    <p:sldId xmlns:r="http://schemas.openxmlformats.org/officeDocument/2006/relationships" id="274" r:id="Ree04d95eb01144d0"/>
    <p:sldId xmlns:r="http://schemas.openxmlformats.org/officeDocument/2006/relationships" id="275" r:id="R051eb870851a49e7"/>
    <p:sldId xmlns:r="http://schemas.openxmlformats.org/officeDocument/2006/relationships" id="276" r:id="R65ad430fea3a41cc"/>
    <p:sldId xmlns:r="http://schemas.openxmlformats.org/officeDocument/2006/relationships" id="277" r:id="R0d057628424e4751"/>
    <p:sldId xmlns:r="http://schemas.openxmlformats.org/officeDocument/2006/relationships" id="278" r:id="Rbe2a31530fc34333"/>
    <p:sldId xmlns:r="http://schemas.openxmlformats.org/officeDocument/2006/relationships" id="279" r:id="R7223264db2be4c4d"/>
    <p:sldId xmlns:r="http://schemas.openxmlformats.org/officeDocument/2006/relationships" id="280" r:id="R46b37c698b904ea6"/>
    <p:sldId xmlns:r="http://schemas.openxmlformats.org/officeDocument/2006/relationships" id="281" r:id="R4abf4177d62c49ad"/>
    <p:sldId xmlns:r="http://schemas.openxmlformats.org/officeDocument/2006/relationships" id="282" r:id="R52bc105f8fc441be"/>
    <p:sldId xmlns:r="http://schemas.openxmlformats.org/officeDocument/2006/relationships" id="283" r:id="R688f88ac83b44b6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ad9b6a64db4d06" /><Relationship Type="http://schemas.openxmlformats.org/officeDocument/2006/relationships/slideMaster" Target="/ppt/slideMasters/slideMaster1.xml" Id="R1975a45c3518462b" /><Relationship Type="http://schemas.openxmlformats.org/officeDocument/2006/relationships/notesMaster" Target="/ppt/notesMasters/notesMaster1.xml" Id="Re41ece3989914d1d" /><Relationship Type="http://schemas.openxmlformats.org/officeDocument/2006/relationships/presProps" Target="/ppt/presProps.xml" Id="R341df4bf8e594dd3" /><Relationship Type="http://schemas.openxmlformats.org/officeDocument/2006/relationships/tableStyles" Target="/ppt/tableStyles.xml" Id="R94c633a468d5454c" /><Relationship Type="http://schemas.openxmlformats.org/officeDocument/2006/relationships/slide" Target="/ppt/slides/slide1.xml" Id="R436c5188826b4f92" /><Relationship Type="http://schemas.openxmlformats.org/officeDocument/2006/relationships/slide" Target="/ppt/slides/slide2.xml" Id="R241640d1d72a459f" /><Relationship Type="http://schemas.openxmlformats.org/officeDocument/2006/relationships/slide" Target="/ppt/slides/slide3.xml" Id="R3b947a7ac3834d03" /><Relationship Type="http://schemas.openxmlformats.org/officeDocument/2006/relationships/slide" Target="/ppt/slides/slide4.xml" Id="R3277110965744701" /><Relationship Type="http://schemas.openxmlformats.org/officeDocument/2006/relationships/slide" Target="/ppt/slides/slide5.xml" Id="R45942f3084504200" /><Relationship Type="http://schemas.openxmlformats.org/officeDocument/2006/relationships/slide" Target="/ppt/slides/slide6.xml" Id="R5e3a44145bfe4bb4" /><Relationship Type="http://schemas.openxmlformats.org/officeDocument/2006/relationships/slide" Target="/ppt/slides/slide7.xml" Id="Re849590a22fe4fa3" /><Relationship Type="http://schemas.openxmlformats.org/officeDocument/2006/relationships/slide" Target="/ppt/slides/slide8.xml" Id="R66d7f3b071964a71" /><Relationship Type="http://schemas.openxmlformats.org/officeDocument/2006/relationships/slide" Target="/ppt/slides/slide9.xml" Id="R88ec966d46914808" /><Relationship Type="http://schemas.openxmlformats.org/officeDocument/2006/relationships/slide" Target="/ppt/slides/slide10.xml" Id="Ra52d94b97b354427" /><Relationship Type="http://schemas.openxmlformats.org/officeDocument/2006/relationships/slide" Target="/ppt/slides/slide11.xml" Id="Rccad923aa72e475f" /><Relationship Type="http://schemas.openxmlformats.org/officeDocument/2006/relationships/slide" Target="/ppt/slides/slide12.xml" Id="Ra21db6fbddb642f3" /><Relationship Type="http://schemas.openxmlformats.org/officeDocument/2006/relationships/slide" Target="/ppt/slides/slide13.xml" Id="Refe568aa10c44cce" /><Relationship Type="http://schemas.openxmlformats.org/officeDocument/2006/relationships/slide" Target="/ppt/slides/slide14.xml" Id="R519d81f423914a40" /><Relationship Type="http://schemas.openxmlformats.org/officeDocument/2006/relationships/slide" Target="/ppt/slides/slide15.xml" Id="Re84f7baddd2e4bf6" /><Relationship Type="http://schemas.openxmlformats.org/officeDocument/2006/relationships/slide" Target="/ppt/slides/slide16.xml" Id="R9d2bb304bbb64609" /><Relationship Type="http://schemas.openxmlformats.org/officeDocument/2006/relationships/slide" Target="/ppt/slides/slide17.xml" Id="R3d98e440a1844a3a" /><Relationship Type="http://schemas.openxmlformats.org/officeDocument/2006/relationships/slide" Target="/ppt/slides/slide18.xml" Id="Ra10a375616304c84" /><Relationship Type="http://schemas.openxmlformats.org/officeDocument/2006/relationships/slide" Target="/ppt/slides/slide19.xml" Id="Ree04d95eb01144d0" /><Relationship Type="http://schemas.openxmlformats.org/officeDocument/2006/relationships/slide" Target="/ppt/slides/slide20.xml" Id="R051eb870851a49e7" /><Relationship Type="http://schemas.openxmlformats.org/officeDocument/2006/relationships/slide" Target="/ppt/slides/slide21.xml" Id="R65ad430fea3a41cc" /><Relationship Type="http://schemas.openxmlformats.org/officeDocument/2006/relationships/slide" Target="/ppt/slides/slide22.xml" Id="R0d057628424e4751" /><Relationship Type="http://schemas.openxmlformats.org/officeDocument/2006/relationships/slide" Target="/ppt/slides/slide23.xml" Id="Rbe2a31530fc34333" /><Relationship Type="http://schemas.openxmlformats.org/officeDocument/2006/relationships/slide" Target="/ppt/slides/slide24.xml" Id="R7223264db2be4c4d" /><Relationship Type="http://schemas.openxmlformats.org/officeDocument/2006/relationships/slide" Target="/ppt/slides/slide25.xml" Id="R46b37c698b904ea6" /><Relationship Type="http://schemas.openxmlformats.org/officeDocument/2006/relationships/slide" Target="/ppt/slides/slide26.xml" Id="R4abf4177d62c49ad" /><Relationship Type="http://schemas.openxmlformats.org/officeDocument/2006/relationships/slide" Target="/ppt/slides/slide27.xml" Id="R52bc105f8fc441be" /><Relationship Type="http://schemas.openxmlformats.org/officeDocument/2006/relationships/slide" Target="/ppt/slides/slide28.xml" Id="R688f88ac83b44b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d1406ce9064f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849053ff5a493a" /><Relationship Type="http://schemas.openxmlformats.org/officeDocument/2006/relationships/notesMaster" Target="/ppt/notesMasters/notesMaster1.xml" Id="R2c1edfba538c49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0a6a9557484220" /><Relationship Type="http://schemas.openxmlformats.org/officeDocument/2006/relationships/notesMaster" Target="/ppt/notesMasters/notesMaster1.xml" Id="R3762599673ba45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a969c3821d441c3" /><Relationship Type="http://schemas.openxmlformats.org/officeDocument/2006/relationships/notesMaster" Target="/ppt/notesMasters/notesMaster1.xml" Id="Ra9b0dfbf22154e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aa0ff2250549a9" /><Relationship Type="http://schemas.openxmlformats.org/officeDocument/2006/relationships/notesMaster" Target="/ppt/notesMasters/notesMaster1.xml" Id="R887113be854840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6f1e6316534106" /><Relationship Type="http://schemas.openxmlformats.org/officeDocument/2006/relationships/notesMaster" Target="/ppt/notesMasters/notesMaster1.xml" Id="R95ed9e6bcfb04e9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2a615e38034b13" /><Relationship Type="http://schemas.openxmlformats.org/officeDocument/2006/relationships/notesMaster" Target="/ppt/notesMasters/notesMaster1.xml" Id="Rd21f18770fd6488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0115bb433874bcc" /><Relationship Type="http://schemas.openxmlformats.org/officeDocument/2006/relationships/notesMaster" Target="/ppt/notesMasters/notesMaster1.xml" Id="R06b5b1599b86483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c166af87f634c18" /><Relationship Type="http://schemas.openxmlformats.org/officeDocument/2006/relationships/notesMaster" Target="/ppt/notesMasters/notesMaster1.xml" Id="Rd8a58cb496274d9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7d6f3bdbc5b4544" /><Relationship Type="http://schemas.openxmlformats.org/officeDocument/2006/relationships/notesMaster" Target="/ppt/notesMasters/notesMaster1.xml" Id="Rb661a79046254e5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a5add0570174f5c" /><Relationship Type="http://schemas.openxmlformats.org/officeDocument/2006/relationships/notesMaster" Target="/ppt/notesMasters/notesMaster1.xml" Id="Re6a43dee97ff456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149b78d90ad435b" /><Relationship Type="http://schemas.openxmlformats.org/officeDocument/2006/relationships/notesMaster" Target="/ppt/notesMasters/notesMaster1.xml" Id="Rd74af81c127d4a5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a82c30badbf43e9" /><Relationship Type="http://schemas.openxmlformats.org/officeDocument/2006/relationships/notesMaster" Target="/ppt/notesMasters/notesMaster1.xml" Id="R794187b213514e7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53a879adf2e46f5" /><Relationship Type="http://schemas.openxmlformats.org/officeDocument/2006/relationships/notesMaster" Target="/ppt/notesMasters/notesMaster1.xml" Id="Ra410df2cd5a44de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480feb0f9fe4406" /><Relationship Type="http://schemas.openxmlformats.org/officeDocument/2006/relationships/notesMaster" Target="/ppt/notesMasters/notesMaster1.xml" Id="Rceccece87efc420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46a28a557eb4233" /><Relationship Type="http://schemas.openxmlformats.org/officeDocument/2006/relationships/notesMaster" Target="/ppt/notesMasters/notesMaster1.xml" Id="R51f8f6476efb439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f8f78397aec43f5" /><Relationship Type="http://schemas.openxmlformats.org/officeDocument/2006/relationships/notesMaster" Target="/ppt/notesMasters/notesMaster1.xml" Id="R57d7977851d54fd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7b060026c444069" /><Relationship Type="http://schemas.openxmlformats.org/officeDocument/2006/relationships/notesMaster" Target="/ppt/notesMasters/notesMaster1.xml" Id="Rb656e72c72ac467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1210c12aedc4877" /><Relationship Type="http://schemas.openxmlformats.org/officeDocument/2006/relationships/notesMaster" Target="/ppt/notesMasters/notesMaster1.xml" Id="Rf1605d88b15b4ca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b66f92fbe484245" /><Relationship Type="http://schemas.openxmlformats.org/officeDocument/2006/relationships/notesMaster" Target="/ppt/notesMasters/notesMaster1.xml" Id="R2aa7b56979c241a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ee4fdb3233a48b3" /><Relationship Type="http://schemas.openxmlformats.org/officeDocument/2006/relationships/notesMaster" Target="/ppt/notesMasters/notesMaster1.xml" Id="R25d6c9c2ba5347b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287302aed604601" /><Relationship Type="http://schemas.openxmlformats.org/officeDocument/2006/relationships/notesMaster" Target="/ppt/notesMasters/notesMaster1.xml" Id="R62d0a4b3e3f6494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a51eace36a9452f" /><Relationship Type="http://schemas.openxmlformats.org/officeDocument/2006/relationships/notesMaster" Target="/ppt/notesMasters/notesMaster1.xml" Id="R696af31786d84cc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d9b939f3f324d28" /><Relationship Type="http://schemas.openxmlformats.org/officeDocument/2006/relationships/notesMaster" Target="/ppt/notesMasters/notesMaster1.xml" Id="Rea2e9595e9cc4d8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121ca2ade084b9b" /><Relationship Type="http://schemas.openxmlformats.org/officeDocument/2006/relationships/notesMaster" Target="/ppt/notesMasters/notesMaster1.xml" Id="R19da9bd961cf419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b43d7cbe42d4317" /><Relationship Type="http://schemas.openxmlformats.org/officeDocument/2006/relationships/notesMaster" Target="/ppt/notesMasters/notesMaster1.xml" Id="R6cff56c4f36c4d6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0cf6ce2aecb45e5" /><Relationship Type="http://schemas.openxmlformats.org/officeDocument/2006/relationships/notesMaster" Target="/ppt/notesMasters/notesMaster1.xml" Id="R235ddfe491a546f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6322ecda29f4ae7" /><Relationship Type="http://schemas.openxmlformats.org/officeDocument/2006/relationships/notesMaster" Target="/ppt/notesMasters/notesMaster1.xml" Id="R4fde22df10aa4b6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230eeebdc254b60" /><Relationship Type="http://schemas.openxmlformats.org/officeDocument/2006/relationships/notesMaster" Target="/ppt/notesMasters/notesMaster1.xml" Id="Rb8b485b249b24f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docs/agent-loop.html</a:t>
            </a:r>
          </a:p>
          <a:p xmlns:a="http://schemas.openxmlformats.org/drawingml/2006/main">
            <a:r>
              <a:t>- docs/NextAgent-feature-list.md</a:t>
            </a:r>
          </a:p>
          <a:p xmlns:a="http://schemas.openxmlformats.org/drawingml/2006/main">
            <a:r>
              <a:t>- docs/NextAgent-function-list.md</a:t>
            </a:r>
          </a:p>
          <a:p xmlns:a="http://schemas.openxmlformats.org/drawingml/2006/main">
            <a:r>
              <a:t>- docs/nextagent-feature-spec-review-list.md</a:t>
            </a:r>
          </a:p>
          <a:p xmlns:a="http://schemas.openxmlformats.org/drawingml/2006/main">
            <a:r>
              <a:t>- docs/reports/NextAgent-对外技术交流材料-终版.pptx (visual and narrative source)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docs/agent-loop.html</a:t>
            </a:r>
          </a:p>
          <a:p xmlns:a="http://schemas.openxmlformats.org/drawingml/2006/main">
            <a:r>
              <a:t>- docs/NextAgent-feature-list.md</a:t>
            </a:r>
          </a:p>
          <a:p xmlns:a="http://schemas.openxmlformats.org/drawingml/2006/main">
            <a:r>
              <a:t>- docs/NextAgent-function-list.md</a:t>
            </a:r>
          </a:p>
          <a:p xmlns:a="http://schemas.openxmlformats.org/drawingml/2006/main">
            <a:r>
              <a:t>- docs/nextagent-feature-spec-review-list.md</a:t>
            </a:r>
          </a:p>
          <a:p xmlns:a="http://schemas.openxmlformats.org/drawingml/2006/main">
            <a:r>
              <a:t>- docs/reports/NextAgent-对外技术交流材料-终版.pptx (visual and narrative source)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docs/agent-loop.html</a:t>
            </a:r>
          </a:p>
          <a:p xmlns:a="http://schemas.openxmlformats.org/drawingml/2006/main">
            <a:r>
              <a:t>- docs/NextAgent-feature-list.md</a:t>
            </a:r>
          </a:p>
          <a:p xmlns:a="http://schemas.openxmlformats.org/drawingml/2006/main">
            <a:r>
              <a:t>- docs/NextAgent-function-list.md</a:t>
            </a:r>
          </a:p>
          <a:p xmlns:a="http://schemas.openxmlformats.org/drawingml/2006/main">
            <a:r>
              <a:t>- docs/nextagent-feature-spec-review-list.md</a:t>
            </a:r>
          </a:p>
          <a:p xmlns:a="http://schemas.openxmlformats.org/drawingml/2006/main">
            <a:r>
              <a:t>- docs/reports/NextAgent-对外技术交流材料-终版.pptx (visual and narrative source)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docs/agent-loop.html</a:t>
            </a:r>
          </a:p>
          <a:p xmlns:a="http://schemas.openxmlformats.org/drawingml/2006/main">
            <a:r>
              <a:t>- docs/NextAgent-feature-list.md</a:t>
            </a:r>
          </a:p>
          <a:p xmlns:a="http://schemas.openxmlformats.org/drawingml/2006/main">
            <a:r>
              <a:t>- docs/NextAgent-function-list.md</a:t>
            </a:r>
          </a:p>
          <a:p xmlns:a="http://schemas.openxmlformats.org/drawingml/2006/main">
            <a:r>
              <a:t>- docs/nextagent-feature-spec-review-list.md</a:t>
            </a:r>
          </a:p>
          <a:p xmlns:a="http://schemas.openxmlformats.org/drawingml/2006/main">
            <a:r>
              <a:t>- docs/reports/NextAgent-对外技术交流材料-终版.pptx (visual and narrative source)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docs/agent-loop.html</a:t>
            </a:r>
          </a:p>
          <a:p xmlns:a="http://schemas.openxmlformats.org/drawingml/2006/main">
            <a:r>
              <a:t>- docs/NextAgent-feature-list.md</a:t>
            </a:r>
          </a:p>
          <a:p xmlns:a="http://schemas.openxmlformats.org/drawingml/2006/main">
            <a:r>
              <a:t>- docs/NextAgent-function-list.md</a:t>
            </a:r>
          </a:p>
          <a:p xmlns:a="http://schemas.openxmlformats.org/drawingml/2006/main">
            <a:r>
              <a:t>- docs/nextagent-feature-spec-review-list.md</a:t>
            </a:r>
          </a:p>
          <a:p xmlns:a="http://schemas.openxmlformats.org/drawingml/2006/main">
            <a:r>
              <a:t>- docs/reports/NextAgent-对外技术交流材料-终版.pptx (visual and narrative source)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docs/agent-loop.html</a:t>
            </a:r>
          </a:p>
          <a:p xmlns:a="http://schemas.openxmlformats.org/drawingml/2006/main">
            <a:r>
              <a:t>- docs/NextAgent-feature-list.md</a:t>
            </a:r>
          </a:p>
          <a:p xmlns:a="http://schemas.openxmlformats.org/drawingml/2006/main">
            <a:r>
              <a:t>- docs/NextAgent-function-list.md</a:t>
            </a:r>
          </a:p>
          <a:p xmlns:a="http://schemas.openxmlformats.org/drawingml/2006/main">
            <a:r>
              <a:t>- docs/nextagent-feature-spec-review-list.md</a:t>
            </a:r>
          </a:p>
          <a:p xmlns:a="http://schemas.openxmlformats.org/drawingml/2006/main">
            <a:r>
              <a:t>- docs/reports/NextAgent-对外技术交流材料-终版.pptx (visual and narrative source)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docs/agent-loop.html</a:t>
            </a:r>
          </a:p>
          <a:p xmlns:a="http://schemas.openxmlformats.org/drawingml/2006/main">
            <a:r>
              <a:t>- docs/NextAgent-feature-list.md</a:t>
            </a:r>
          </a:p>
          <a:p xmlns:a="http://schemas.openxmlformats.org/drawingml/2006/main">
            <a:r>
              <a:t>- docs/NextAgent-function-list.md</a:t>
            </a:r>
          </a:p>
          <a:p xmlns:a="http://schemas.openxmlformats.org/drawingml/2006/main">
            <a:r>
              <a:t>- docs/nextagent-feature-spec-review-list.md</a:t>
            </a:r>
          </a:p>
          <a:p xmlns:a="http://schemas.openxmlformats.org/drawingml/2006/main">
            <a:r>
              <a:t>- docs/reports/NextAgent-对外技术交流材料-终版.pptx (visual and narrative source)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docs/agent-loop.html</a:t>
            </a:r>
          </a:p>
          <a:p xmlns:a="http://schemas.openxmlformats.org/drawingml/2006/main">
            <a:r>
              <a:t>- docs/NextAgent-feature-list.md</a:t>
            </a:r>
          </a:p>
          <a:p xmlns:a="http://schemas.openxmlformats.org/drawingml/2006/main">
            <a:r>
              <a:t>- docs/NextAgent-function-list.md</a:t>
            </a:r>
          </a:p>
          <a:p xmlns:a="http://schemas.openxmlformats.org/drawingml/2006/main">
            <a:r>
              <a:t>- docs/nextagent-feature-spec-review-list.md</a:t>
            </a:r>
          </a:p>
          <a:p xmlns:a="http://schemas.openxmlformats.org/drawingml/2006/main">
            <a:r>
              <a:t>- docs/reports/NextAgent-对外技术交流材料-终版.pptx (visual and narrative source)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docs/agent-loop.html</a:t>
            </a:r>
          </a:p>
          <a:p xmlns:a="http://schemas.openxmlformats.org/drawingml/2006/main">
            <a:r>
              <a:t>- docs/NextAgent-feature-list.md</a:t>
            </a:r>
          </a:p>
          <a:p xmlns:a="http://schemas.openxmlformats.org/drawingml/2006/main">
            <a:r>
              <a:t>- docs/NextAgent-function-list.md</a:t>
            </a:r>
          </a:p>
          <a:p xmlns:a="http://schemas.openxmlformats.org/drawingml/2006/main">
            <a:r>
              <a:t>- docs/nextagent-feature-spec-review-list.md</a:t>
            </a:r>
          </a:p>
          <a:p xmlns:a="http://schemas.openxmlformats.org/drawingml/2006/main">
            <a:r>
              <a:t>- docs/reports/NextAgent-对外技术交流材料-终版.pptx (visual and narrative source)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docs/agent-loop.html</a:t>
            </a:r>
          </a:p>
          <a:p xmlns:a="http://schemas.openxmlformats.org/drawingml/2006/main">
            <a:r>
              <a:t>- docs/NextAgent-feature-list.md</a:t>
            </a:r>
          </a:p>
          <a:p xmlns:a="http://schemas.openxmlformats.org/drawingml/2006/main">
            <a:r>
              <a:t>- docs/NextAgent-function-list.md</a:t>
            </a:r>
          </a:p>
          <a:p xmlns:a="http://schemas.openxmlformats.org/drawingml/2006/main">
            <a:r>
              <a:t>- docs/nextagent-feature-spec-review-list.md</a:t>
            </a:r>
          </a:p>
          <a:p xmlns:a="http://schemas.openxmlformats.org/drawingml/2006/main">
            <a:r>
              <a:t>- docs/reports/NextAgent-对外技术交流材料-终版.pptx (visual and narrative source)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docs/agent-loop.html</a:t>
            </a:r>
          </a:p>
          <a:p xmlns:a="http://schemas.openxmlformats.org/drawingml/2006/main">
            <a:r>
              <a:t>- docs/NextAgent-feature-list.md</a:t>
            </a:r>
          </a:p>
          <a:p xmlns:a="http://schemas.openxmlformats.org/drawingml/2006/main">
            <a:r>
              <a:t>- docs/NextAgent-function-list.md</a:t>
            </a:r>
          </a:p>
          <a:p xmlns:a="http://schemas.openxmlformats.org/drawingml/2006/main">
            <a:r>
              <a:t>- docs/nextagent-feature-spec-review-list.md</a:t>
            </a:r>
          </a:p>
          <a:p xmlns:a="http://schemas.openxmlformats.org/drawingml/2006/main">
            <a:r>
              <a:t>- docs/reports/NextAgent-对外技术交流材料-终版.pptx (visual and narrative source)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docs/agent-loop.html</a:t>
            </a:r>
          </a:p>
          <a:p xmlns:a="http://schemas.openxmlformats.org/drawingml/2006/main">
            <a:r>
              <a:t>- docs/NextAgent-feature-list.md</a:t>
            </a:r>
          </a:p>
          <a:p xmlns:a="http://schemas.openxmlformats.org/drawingml/2006/main">
            <a:r>
              <a:t>- docs/NextAgent-function-list.md</a:t>
            </a:r>
          </a:p>
          <a:p xmlns:a="http://schemas.openxmlformats.org/drawingml/2006/main">
            <a:r>
              <a:t>- docs/nextagent-feature-spec-review-list.md</a:t>
            </a:r>
          </a:p>
          <a:p xmlns:a="http://schemas.openxmlformats.org/drawingml/2006/main">
            <a:r>
              <a:t>- docs/reports/NextAgent-对外技术交流材料-终版.pptx (visual and narrative source)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docs/agent-loop.html</a:t>
            </a:r>
          </a:p>
          <a:p xmlns:a="http://schemas.openxmlformats.org/drawingml/2006/main">
            <a:r>
              <a:t>- docs/NextAgent-feature-list.md</a:t>
            </a:r>
          </a:p>
          <a:p xmlns:a="http://schemas.openxmlformats.org/drawingml/2006/main">
            <a:r>
              <a:t>- docs/NextAgent-function-list.md</a:t>
            </a:r>
          </a:p>
          <a:p xmlns:a="http://schemas.openxmlformats.org/drawingml/2006/main">
            <a:r>
              <a:t>- docs/nextagent-feature-spec-review-list.md</a:t>
            </a:r>
          </a:p>
          <a:p xmlns:a="http://schemas.openxmlformats.org/drawingml/2006/main">
            <a:r>
              <a:t>- docs/reports/NextAgent-对外技术交流材料-终版.pptx (visual and narrative source)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docs/agent-loop.html</a:t>
            </a:r>
          </a:p>
          <a:p xmlns:a="http://schemas.openxmlformats.org/drawingml/2006/main">
            <a:r>
              <a:t>- docs/NextAgent-feature-list.md</a:t>
            </a:r>
          </a:p>
          <a:p xmlns:a="http://schemas.openxmlformats.org/drawingml/2006/main">
            <a:r>
              <a:t>- docs/NextAgent-function-list.md</a:t>
            </a:r>
          </a:p>
          <a:p xmlns:a="http://schemas.openxmlformats.org/drawingml/2006/main">
            <a:r>
              <a:t>- docs/nextagent-feature-spec-review-list.md</a:t>
            </a:r>
          </a:p>
          <a:p xmlns:a="http://schemas.openxmlformats.org/drawingml/2006/main">
            <a:r>
              <a:t>- docs/reports/NextAgent-对外技术交流材料-终版.pptx (visual and narrative source)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docs/agent-loop.html</a:t>
            </a:r>
          </a:p>
          <a:p xmlns:a="http://schemas.openxmlformats.org/drawingml/2006/main">
            <a:r>
              <a:t>- docs/NextAgent-feature-list.md</a:t>
            </a:r>
          </a:p>
          <a:p xmlns:a="http://schemas.openxmlformats.org/drawingml/2006/main">
            <a:r>
              <a:t>- docs/NextAgent-function-list.md</a:t>
            </a:r>
          </a:p>
          <a:p xmlns:a="http://schemas.openxmlformats.org/drawingml/2006/main">
            <a:r>
              <a:t>- docs/nextagent-feature-spec-review-list.md</a:t>
            </a:r>
          </a:p>
          <a:p xmlns:a="http://schemas.openxmlformats.org/drawingml/2006/main">
            <a:r>
              <a:t>- docs/reports/NextAgent-对外技术交流材料-终版.pptx (visual and narrative source)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docs/agent-loop.html</a:t>
            </a:r>
          </a:p>
          <a:p xmlns:a="http://schemas.openxmlformats.org/drawingml/2006/main">
            <a:r>
              <a:t>- docs/NextAgent-feature-list.md</a:t>
            </a:r>
          </a:p>
          <a:p xmlns:a="http://schemas.openxmlformats.org/drawingml/2006/main">
            <a:r>
              <a:t>- docs/NextAgent-function-list.md</a:t>
            </a:r>
          </a:p>
          <a:p xmlns:a="http://schemas.openxmlformats.org/drawingml/2006/main">
            <a:r>
              <a:t>- docs/nextagent-feature-spec-review-list.md</a:t>
            </a:r>
          </a:p>
          <a:p xmlns:a="http://schemas.openxmlformats.org/drawingml/2006/main">
            <a:r>
              <a:t>- docs/reports/NextAgent-对外技术交流材料-终版.pptx (visual and narrative source)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docs/agent-loop.html</a:t>
            </a:r>
          </a:p>
          <a:p xmlns:a="http://schemas.openxmlformats.org/drawingml/2006/main">
            <a:r>
              <a:t>- docs/NextAgent-feature-list.md</a:t>
            </a:r>
          </a:p>
          <a:p xmlns:a="http://schemas.openxmlformats.org/drawingml/2006/main">
            <a:r>
              <a:t>- docs/NextAgent-function-list.md</a:t>
            </a:r>
          </a:p>
          <a:p xmlns:a="http://schemas.openxmlformats.org/drawingml/2006/main">
            <a:r>
              <a:t>- docs/nextagent-feature-spec-review-list.md</a:t>
            </a:r>
          </a:p>
          <a:p xmlns:a="http://schemas.openxmlformats.org/drawingml/2006/main">
            <a:r>
              <a:t>- docs/reports/NextAgent-对外技术交流材料-终版.pptx (visual and narrative source)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docs/agent-loop.html</a:t>
            </a:r>
          </a:p>
          <a:p xmlns:a="http://schemas.openxmlformats.org/drawingml/2006/main">
            <a:r>
              <a:t>- docs/NextAgent-feature-list.md</a:t>
            </a:r>
          </a:p>
          <a:p xmlns:a="http://schemas.openxmlformats.org/drawingml/2006/main">
            <a:r>
              <a:t>- docs/NextAgent-function-list.md</a:t>
            </a:r>
          </a:p>
          <a:p xmlns:a="http://schemas.openxmlformats.org/drawingml/2006/main">
            <a:r>
              <a:t>- docs/nextagent-feature-spec-review-list.md</a:t>
            </a:r>
          </a:p>
          <a:p xmlns:a="http://schemas.openxmlformats.org/drawingml/2006/main">
            <a:r>
              <a:t>- docs/reports/NextAgent-对外技术交流材料-终版.pptx (visual and narrative source)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docs/agent-loop.html</a:t>
            </a:r>
          </a:p>
          <a:p xmlns:a="http://schemas.openxmlformats.org/drawingml/2006/main">
            <a:r>
              <a:t>- docs/NextAgent-feature-list.md</a:t>
            </a:r>
          </a:p>
          <a:p xmlns:a="http://schemas.openxmlformats.org/drawingml/2006/main">
            <a:r>
              <a:t>- docs/NextAgent-function-list.md</a:t>
            </a:r>
          </a:p>
          <a:p xmlns:a="http://schemas.openxmlformats.org/drawingml/2006/main">
            <a:r>
              <a:t>- docs/nextagent-feature-spec-review-list.md</a:t>
            </a:r>
          </a:p>
          <a:p xmlns:a="http://schemas.openxmlformats.org/drawingml/2006/main">
            <a:r>
              <a:t>- docs/reports/NextAgent-对外技术交流材料-终版.pptx (visual and narrative source)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docs/agent-loop.html</a:t>
            </a:r>
          </a:p>
          <a:p xmlns:a="http://schemas.openxmlformats.org/drawingml/2006/main">
            <a:r>
              <a:t>- docs/NextAgent-feature-list.md</a:t>
            </a:r>
          </a:p>
          <a:p xmlns:a="http://schemas.openxmlformats.org/drawingml/2006/main">
            <a:r>
              <a:t>- docs/NextAgent-function-list.md</a:t>
            </a:r>
          </a:p>
          <a:p xmlns:a="http://schemas.openxmlformats.org/drawingml/2006/main">
            <a:r>
              <a:t>- docs/nextagent-feature-spec-review-list.md</a:t>
            </a:r>
          </a:p>
          <a:p xmlns:a="http://schemas.openxmlformats.org/drawingml/2006/main">
            <a:r>
              <a:t>- docs/reports/NextAgent-对外技术交流材料-终版.pptx (visual and narrative source)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docs/agent-loop.html</a:t>
            </a:r>
          </a:p>
          <a:p xmlns:a="http://schemas.openxmlformats.org/drawingml/2006/main">
            <a:r>
              <a:t>- docs/NextAgent-feature-list.md</a:t>
            </a:r>
          </a:p>
          <a:p xmlns:a="http://schemas.openxmlformats.org/drawingml/2006/main">
            <a:r>
              <a:t>- docs/NextAgent-function-list.md</a:t>
            </a:r>
          </a:p>
          <a:p xmlns:a="http://schemas.openxmlformats.org/drawingml/2006/main">
            <a:r>
              <a:t>- docs/nextagent-feature-spec-review-list.md</a:t>
            </a:r>
          </a:p>
          <a:p xmlns:a="http://schemas.openxmlformats.org/drawingml/2006/main">
            <a:r>
              <a:t>- docs/reports/NextAgent-对外技术交流材料-终版.pptx (visual and narrative source)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docs/agent-loop.html</a:t>
            </a:r>
          </a:p>
          <a:p xmlns:a="http://schemas.openxmlformats.org/drawingml/2006/main">
            <a:r>
              <a:t>- docs/NextAgent-feature-list.md</a:t>
            </a:r>
          </a:p>
          <a:p xmlns:a="http://schemas.openxmlformats.org/drawingml/2006/main">
            <a:r>
              <a:t>- docs/NextAgent-function-list.md</a:t>
            </a:r>
          </a:p>
          <a:p xmlns:a="http://schemas.openxmlformats.org/drawingml/2006/main">
            <a:r>
              <a:t>- docs/nextagent-feature-spec-review-list.md</a:t>
            </a:r>
          </a:p>
          <a:p xmlns:a="http://schemas.openxmlformats.org/drawingml/2006/main">
            <a:r>
              <a:t>- docs/reports/NextAgent-对外技术交流材料-终版.pptx (visual and narrative source)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docs/agent-loop.html</a:t>
            </a:r>
          </a:p>
          <a:p xmlns:a="http://schemas.openxmlformats.org/drawingml/2006/main">
            <a:r>
              <a:t>- docs/NextAgent-feature-list.md</a:t>
            </a:r>
          </a:p>
          <a:p xmlns:a="http://schemas.openxmlformats.org/drawingml/2006/main">
            <a:r>
              <a:t>- docs/NextAgent-function-list.md</a:t>
            </a:r>
          </a:p>
          <a:p xmlns:a="http://schemas.openxmlformats.org/drawingml/2006/main">
            <a:r>
              <a:t>- docs/nextagent-feature-spec-review-list.md</a:t>
            </a:r>
          </a:p>
          <a:p xmlns:a="http://schemas.openxmlformats.org/drawingml/2006/main">
            <a:r>
              <a:t>- docs/reports/NextAgent-对外技术交流材料-终版.pptx (visual and narrative source)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docs/agent-loop.html</a:t>
            </a:r>
          </a:p>
          <a:p xmlns:a="http://schemas.openxmlformats.org/drawingml/2006/main">
            <a:r>
              <a:t>- docs/NextAgent-feature-list.md</a:t>
            </a:r>
          </a:p>
          <a:p xmlns:a="http://schemas.openxmlformats.org/drawingml/2006/main">
            <a:r>
              <a:t>- docs/NextAgent-function-list.md</a:t>
            </a:r>
          </a:p>
          <a:p xmlns:a="http://schemas.openxmlformats.org/drawingml/2006/main">
            <a:r>
              <a:t>- docs/nextagent-feature-spec-review-list.md</a:t>
            </a:r>
          </a:p>
          <a:p xmlns:a="http://schemas.openxmlformats.org/drawingml/2006/main">
            <a:r>
              <a:t>- docs/reports/NextAgent-对外技术交流材料-终版.pptx (visual and narrative source)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docs/agent-loop.html</a:t>
            </a:r>
          </a:p>
          <a:p xmlns:a="http://schemas.openxmlformats.org/drawingml/2006/main">
            <a:r>
              <a:t>- docs/NextAgent-feature-list.md</a:t>
            </a:r>
          </a:p>
          <a:p xmlns:a="http://schemas.openxmlformats.org/drawingml/2006/main">
            <a:r>
              <a:t>- docs/NextAgent-function-list.md</a:t>
            </a:r>
          </a:p>
          <a:p xmlns:a="http://schemas.openxmlformats.org/drawingml/2006/main">
            <a:r>
              <a:t>- docs/nextagent-feature-spec-review-list.md</a:t>
            </a:r>
          </a:p>
          <a:p xmlns:a="http://schemas.openxmlformats.org/drawingml/2006/main">
            <a:r>
              <a:t>- docs/reports/NextAgent-对外技术交流材料-终版.pptx (visual and narrative source)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docs/agent-loop.html</a:t>
            </a:r>
          </a:p>
          <a:p xmlns:a="http://schemas.openxmlformats.org/drawingml/2006/main">
            <a:r>
              <a:t>- docs/NextAgent-feature-list.md</a:t>
            </a:r>
          </a:p>
          <a:p xmlns:a="http://schemas.openxmlformats.org/drawingml/2006/main">
            <a:r>
              <a:t>- docs/NextAgent-function-list.md</a:t>
            </a:r>
          </a:p>
          <a:p xmlns:a="http://schemas.openxmlformats.org/drawingml/2006/main">
            <a:r>
              <a:t>- docs/nextagent-feature-spec-review-list.md</a:t>
            </a:r>
          </a:p>
          <a:p xmlns:a="http://schemas.openxmlformats.org/drawingml/2006/main">
            <a:r>
              <a:t>- docs/reports/NextAgent-对外技术交流材料-终版.pptx (visual and narrative source)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docs/agent-loop.html</a:t>
            </a:r>
          </a:p>
          <a:p xmlns:a="http://schemas.openxmlformats.org/drawingml/2006/main">
            <a:r>
              <a:t>- docs/NextAgent-feature-list.md</a:t>
            </a:r>
          </a:p>
          <a:p xmlns:a="http://schemas.openxmlformats.org/drawingml/2006/main">
            <a:r>
              <a:t>- docs/NextAgent-function-list.md</a:t>
            </a:r>
          </a:p>
          <a:p xmlns:a="http://schemas.openxmlformats.org/drawingml/2006/main">
            <a:r>
              <a:t>- docs/nextagent-feature-spec-review-list.md</a:t>
            </a:r>
          </a:p>
          <a:p xmlns:a="http://schemas.openxmlformats.org/drawingml/2006/main">
            <a:r>
              <a:t>- docs/reports/NextAgent-对外技术交流材料-终版.pptx (visual and narrative source)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docs/agent-loop.html</a:t>
            </a:r>
          </a:p>
          <a:p xmlns:a="http://schemas.openxmlformats.org/drawingml/2006/main">
            <a:r>
              <a:t>- docs/NextAgent-feature-list.md</a:t>
            </a:r>
          </a:p>
          <a:p xmlns:a="http://schemas.openxmlformats.org/drawingml/2006/main">
            <a:r>
              <a:t>- docs/NextAgent-function-list.md</a:t>
            </a:r>
          </a:p>
          <a:p xmlns:a="http://schemas.openxmlformats.org/drawingml/2006/main">
            <a:r>
              <a:t>- docs/nextagent-feature-spec-review-list.md</a:t>
            </a:r>
          </a:p>
          <a:p xmlns:a="http://schemas.openxmlformats.org/drawingml/2006/main">
            <a:r>
              <a:t>- docs/reports/NextAgent-对外技术交流材料-终版.pptx (visual and narrative source)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f81165eb38469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ba3f3a8ad2425a" /><Relationship Type="http://schemas.openxmlformats.org/officeDocument/2006/relationships/slideLayout" Target="/ppt/slideLayouts/slideLayout1.xml" Id="R09b80023f2f441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b80023f2f441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66a5f190474286" /><Relationship Type="http://schemas.openxmlformats.org/officeDocument/2006/relationships/notesSlide" Target="/ppt/notesSlides/notesSlide1.xml" Id="Rf718bb5886404a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424920e8e74ac8" /><Relationship Type="http://schemas.openxmlformats.org/officeDocument/2006/relationships/notesSlide" Target="/ppt/notesSlides/notesSlide2.xml" Id="R23e54c170a9042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0c6bf9d0d94721" /><Relationship Type="http://schemas.openxmlformats.org/officeDocument/2006/relationships/notesSlide" Target="/ppt/notesSlides/notesSlide3.xml" Id="Rb227a31d29c543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37ed7a70d04ea8" /><Relationship Type="http://schemas.openxmlformats.org/officeDocument/2006/relationships/notesSlide" Target="/ppt/notesSlides/notesSlide4.xml" Id="Reced903f1e96483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a41746b88448be" /><Relationship Type="http://schemas.openxmlformats.org/officeDocument/2006/relationships/notesSlide" Target="/ppt/notesSlides/notesSlide5.xml" Id="R6d3e50e911ff4ac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723f9c13e147da" /><Relationship Type="http://schemas.openxmlformats.org/officeDocument/2006/relationships/notesSlide" Target="/ppt/notesSlides/notesSlide6.xml" Id="R276c2b74ae4f467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d6c3727a11412c" /><Relationship Type="http://schemas.openxmlformats.org/officeDocument/2006/relationships/notesSlide" Target="/ppt/notesSlides/notesSlide7.xml" Id="R317c05d3de1749c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22273111664475" /><Relationship Type="http://schemas.openxmlformats.org/officeDocument/2006/relationships/notesSlide" Target="/ppt/notesSlides/notesSlide8.xml" Id="R2fc22d61b926453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77f62688b44875" /><Relationship Type="http://schemas.openxmlformats.org/officeDocument/2006/relationships/notesSlide" Target="/ppt/notesSlides/notesSlide9.xml" Id="R4e47e32eaa854a7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226bb38be2484e" /><Relationship Type="http://schemas.openxmlformats.org/officeDocument/2006/relationships/notesSlide" Target="/ppt/notesSlides/notesSlide10.xml" Id="R6a801b4664be424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02c2fc7ff74ee5" /><Relationship Type="http://schemas.openxmlformats.org/officeDocument/2006/relationships/notesSlide" Target="/ppt/notesSlides/notesSlide11.xml" Id="R94a6e7c7c4d943e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f6f388c0f84706" /><Relationship Type="http://schemas.openxmlformats.org/officeDocument/2006/relationships/notesSlide" Target="/ppt/notesSlides/notesSlide12.xml" Id="R226b17226c714cf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bb5118d61c4c52" /><Relationship Type="http://schemas.openxmlformats.org/officeDocument/2006/relationships/notesSlide" Target="/ppt/notesSlides/notesSlide13.xml" Id="R17ac36a0a60d4d2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be5d731f584f26" /><Relationship Type="http://schemas.openxmlformats.org/officeDocument/2006/relationships/notesSlide" Target="/ppt/notesSlides/notesSlide14.xml" Id="R17097a4d10ab461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0b7f57159a414f" /><Relationship Type="http://schemas.openxmlformats.org/officeDocument/2006/relationships/notesSlide" Target="/ppt/notesSlides/notesSlide15.xml" Id="R35ec8e7e48864be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d11694ec494b9a" /><Relationship Type="http://schemas.openxmlformats.org/officeDocument/2006/relationships/notesSlide" Target="/ppt/notesSlides/notesSlide16.xml" Id="R47024b0d50524a0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e0f3346cac4967" /><Relationship Type="http://schemas.openxmlformats.org/officeDocument/2006/relationships/notesSlide" Target="/ppt/notesSlides/notesSlide17.xml" Id="R9dd74285d70a4a6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c27802860440c2" /><Relationship Type="http://schemas.openxmlformats.org/officeDocument/2006/relationships/notesSlide" Target="/ppt/notesSlides/notesSlide18.xml" Id="R827e371602774a7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c6850262464a9e" /><Relationship Type="http://schemas.openxmlformats.org/officeDocument/2006/relationships/notesSlide" Target="/ppt/notesSlides/notesSlide19.xml" Id="R5bd60bccb2614a6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a53a62e7c143ef" /><Relationship Type="http://schemas.openxmlformats.org/officeDocument/2006/relationships/notesSlide" Target="/ppt/notesSlides/notesSlide20.xml" Id="R4bb3fb1389994e4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b07d5667a64afc" /><Relationship Type="http://schemas.openxmlformats.org/officeDocument/2006/relationships/notesSlide" Target="/ppt/notesSlides/notesSlide21.xml" Id="Rd95ccd5231b44ba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aa47c9dcf1414a" /><Relationship Type="http://schemas.openxmlformats.org/officeDocument/2006/relationships/notesSlide" Target="/ppt/notesSlides/notesSlide22.xml" Id="Ra9ca6fa496e5479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d261985da84261" /><Relationship Type="http://schemas.openxmlformats.org/officeDocument/2006/relationships/notesSlide" Target="/ppt/notesSlides/notesSlide23.xml" Id="R75b97b58d1ee48f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a7114047ae4375" /><Relationship Type="http://schemas.openxmlformats.org/officeDocument/2006/relationships/notesSlide" Target="/ppt/notesSlides/notesSlide24.xml" Id="R5033195ef80b4c3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1cf28a313144fe" /><Relationship Type="http://schemas.openxmlformats.org/officeDocument/2006/relationships/notesSlide" Target="/ppt/notesSlides/notesSlide25.xml" Id="Re132d982551648c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c0f9a7095841a2" /><Relationship Type="http://schemas.openxmlformats.org/officeDocument/2006/relationships/notesSlide" Target="/ppt/notesSlides/notesSlide26.xml" Id="Rfb6105550fe9423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fadc49001d4ee0" /><Relationship Type="http://schemas.openxmlformats.org/officeDocument/2006/relationships/notesSlide" Target="/ppt/notesSlides/notesSlide27.xml" Id="R82c00b9e67a5463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aa7a15cf714f2f" /><Relationship Type="http://schemas.openxmlformats.org/officeDocument/2006/relationships/notesSlide" Target="/ppt/notesSlides/notesSlide28.xml" Id="R2829c1a3f7d0499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5539E68-C44A-4DF3-805C-365C9220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0"/>
            <a:ext cx="22383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22"/>
          </a:solidFill>
          <a:ln xmlns:a="http://schemas.openxmlformats.org/drawingml/2006/main" w="0">
            <a:solidFill>
              <a:srgbClr val="1019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71F9EE-3DFD-45E8-9074-012286A4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59055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NEXTAGENT / TELECOM AGENT FRAMEWORK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F49769-590B-4B07-AEB1-DF20973E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85725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让电信网络智能体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进入可信生产主路径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7C454D-3435-4CF9-81E7-BC02D456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81375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77E50B-F5B9-462A-BDB1-C67EB84B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67125"/>
            <a:ext cx="7858125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11 能力域 · 77 特性 · 187 功能｜黑盒效果 · 业界增量 · 二次开发边界</a:t>
            </a:r>
          </a:p>
        </p:txBody>
      </p:sp>
      <p:cxnSp>
        <p:nvCxnSpPr>
          <p:cNvPr id="120" name=""/>
          <p:cNvCxnSpPr/>
          <p:nvPr/>
        </p:nvCxnSpPr>
        <p:spPr>
          <a:xfrm xmlns:a="http://schemas.openxmlformats.org/drawingml/2006/main">
            <a:off x="495300" y="5905500"/>
            <a:ext cx="898207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0D7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D8AE78-E50F-41F4-BBB9-E4B4026B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15050"/>
            <a:ext cx="13811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核心结论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EED7DD-F490-4BC3-B7AA-168828C1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096000"/>
            <a:ext cx="723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不是多一个聊天入口，而是把智能体能力变成可治理、可恢复、可审计的运行能力。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881DC9-BCE3-429A-BD13-CBF13EAF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28625"/>
            <a:ext cx="1428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FD5E8"/>
                </a:solidFill>
                <a:latin typeface="Microsoft YaHei"/>
                <a:ea typeface="Microsoft YaHei"/>
                <a:cs typeface="Microsoft YaHei"/>
              </a:defRPr>
            </a:pPr>
            <a:r>
              <a:t>01 — 28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5D4B43-A224-4FE7-B4FC-B7792379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066800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关键特性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7980A9-2F96-48FF-ACB0-1436692A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428750"/>
            <a:ext cx="1428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AEBAC5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能力如何组成可信任务闭环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EFC3BC-038F-44F6-BB3D-17F9C226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190750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黑盒效果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D230F5-2E02-4F30-831E-3F815E43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552700"/>
            <a:ext cx="1428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AEBAC5"/>
                </a:solidFill>
                <a:latin typeface="Microsoft YaHei"/>
                <a:ea typeface="Microsoft YaHei"/>
                <a:cs typeface="Microsoft YaHei"/>
              </a:defRPr>
            </a:pPr>
            <a:r>
              <a:t>用户看到什么、能做什么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AC186E-E947-438C-9AB2-8C3A7DA3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314700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业界增量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AE8D63-75D9-4A16-9D0F-06421682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676650"/>
            <a:ext cx="1428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AEBAC5"/>
                </a:solidFill>
                <a:latin typeface="Microsoft YaHei"/>
                <a:ea typeface="Microsoft YaHei"/>
                <a:cs typeface="Microsoft YaHei"/>
              </a:defRPr>
            </a:pPr>
            <a:r>
              <a:t>从组件齐全到同一主路径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44EC08-E6F5-4C80-B354-9654DE51D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438650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扩展交付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34016A-FDA4-418D-876A-2F8272B7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800600"/>
            <a:ext cx="1428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AEBAC5"/>
                </a:solidFill>
                <a:latin typeface="Microsoft YaHei"/>
                <a:ea typeface="Microsoft YaHei"/>
                <a:cs typeface="Microsoft YaHei"/>
              </a:defRPr>
            </a:pPr>
            <a:r>
              <a:t>以稳定边界接入领域能力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A2C20F-2958-436A-A5CF-CB5A2677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810250"/>
            <a:ext cx="1428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AEBAC5"/>
                </a:solidFill>
                <a:latin typeface="Microsoft YaHei"/>
                <a:ea typeface="Microsoft YaHei"/>
                <a:cs typeface="Microsoft YaHei"/>
              </a:defRPr>
            </a:pPr>
            <a:r>
              <a:t>对外技术交流材料｜2026.08</a:t>
            </a:r>
          </a:p>
        </p:txBody>
      </p:sp>
    </p:spTree>
    <p:extLst>
      <p:ext uri="{BB962C8B-B14F-4D97-AF65-F5344CB8AC3E}">
        <p14:creationId xmlns:p14="http://schemas.microsoft.com/office/powerpoint/2010/main" val="15722751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8F3232A1-6312-4EB7-8667-58EC4107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68580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7918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NextAgent 把模型能力变成可治理、可验证、可交付的运行能力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CDC239-4E90-4BC7-AD2D-1DB93DE7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762000"/>
            <a:ext cx="4191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4795"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11 个能力域最终只回答三件事：用户得到什么，系统如何守住边界，业务如何低风险扩展。</a:t>
            </a:r>
          </a:p>
        </p:txBody>
      </p:sp>
      <p:cxnSp>
        <p:nvCxnSpPr>
          <p:cNvPr id="371" name=""/>
          <p:cNvCxnSpPr/>
          <p:nvPr/>
        </p:nvCxnSpPr>
        <p:spPr>
          <a:xfrm xmlns:a="http://schemas.openxmlformats.org/drawingml/2006/main">
            <a:off x="457200" y="180975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0D7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882FC3-14BC-41DF-B1E0-DF240FE4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8097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7"/>
          </a:solidFill>
          <a:ln xmlns:a="http://schemas.openxmlformats.org/drawingml/2006/main" w="0">
            <a:solidFill>
              <a:srgbClr val="C9D0D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00DED6-7218-4B67-8123-B56C00C7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097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7"/>
          </a:solidFill>
          <a:ln xmlns:a="http://schemas.openxmlformats.org/drawingml/2006/main" w="0">
            <a:solidFill>
              <a:srgbClr val="C9D0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6E06B6-D193-4161-A4CE-D2A221EE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342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01 / 连续使用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397811-370C-4363-BD8E-575F71A1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323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网络运维人员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081B70-76DE-4603-B6C2-BDD393E5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3238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任务执行与协作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1C4422-1DD9-4355-A9C2-EAC5C57A3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90900"/>
            <a:ext cx="3333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“任务到哪一步？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能否停止、重试或恢复？”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701E7D-02F0-49AB-B0EF-FA328618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62450"/>
            <a:ext cx="33337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需要受理坐标、连续进展、人工介入提示和可追溯终态。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1343BB-9F87-4F4F-A444-B60E8037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38350"/>
            <a:ext cx="3143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02 / 运行保障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1E3764-883D-4B35-B883-AD3D3D259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3143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平台运维人员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BA288C-65DE-41E7-A565-0C52E82D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38450"/>
            <a:ext cx="3143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稳定性、容量与恢复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A7985F-6743-46AB-86F9-E300C25F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90900"/>
            <a:ext cx="31432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“问题发生在哪里？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恢复是否真正有效？”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6FEA64-E083-477A-B430-C557793E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62450"/>
            <a:ext cx="3143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需要按同一 run 贯通日志、指标、轨迹、健康与恢复事实。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6A3EC5-CBAE-4331-9678-48A59A61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38350"/>
            <a:ext cx="3143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03 / 建设交付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70120F-536A-4901-B0F4-5448EB2C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81250"/>
            <a:ext cx="323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开发与集成人员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2A7264-515E-46A3-A3CD-AD9BC9E5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38450"/>
            <a:ext cx="3238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领域能力和客户系统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36FE2F-676B-45E3-AB71-E8201EFF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90900"/>
            <a:ext cx="3238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“怎样扩展而不破坏内核？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如何证明改动已生效？”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511B30-66AB-4F24-BDD2-D3777F47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62450"/>
            <a:ext cx="32385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需要稳定扩展面、明确 owner 边界和真实产品路径验收。</a:t>
            </a:r>
          </a:p>
        </p:txBody>
      </p:sp>
      <p:cxnSp>
        <p:nvCxnSpPr>
          <p:cNvPr id="389" name=""/>
          <p:cNvCxnSpPr/>
          <p:nvPr/>
        </p:nvCxnSpPr>
        <p:spPr>
          <a:xfrm xmlns:a="http://schemas.openxmlformats.org/drawingml/2006/main">
            <a:off x="457200" y="514350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0D7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B6E610-C77B-42E8-84DE-DFA7466E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共同结果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C4ADB9-8498-4346-BA8C-0176F18E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438775"/>
            <a:ext cx="3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A2F786-29AA-4D1A-8CCE-897B339E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429250"/>
            <a:ext cx="1809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统一任务时间线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E805DC-6620-4233-8364-7B891518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438775"/>
            <a:ext cx="3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0C5EB0-B808-46FF-90CC-AA99C80A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5429250"/>
            <a:ext cx="1524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Agent + Owner 双 Scope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8EB523-B4A5-4A3F-9597-F3701A430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438775"/>
            <a:ext cx="3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66C3C1-766E-4A2D-B2D5-C682F05D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429250"/>
            <a:ext cx="1905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能力先绑定后调用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3CBD18-705F-494F-A51B-79F675EEA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438775"/>
            <a:ext cx="3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B5D4A6-5D92-40DA-B165-6C889636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429250"/>
            <a:ext cx="1905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安全投影与权威终态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B0860C-A4F0-48D4-82B5-0CB3C3D1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7A848F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依据：NextAgent Feature / Function List 与规格评审清单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EA740B-CA1E-4C05-87D6-1A424698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838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A848F"/>
                </a:solidFill>
                <a:latin typeface="Microsoft YaHei"/>
                <a:ea typeface="Microsoft YaHei"/>
                <a:cs typeface="Microsoft YaHei"/>
              </a:defRPr>
            </a:pPr>
            <a:r>
              <a:t>02 / 28</a:t>
            </a:r>
          </a:p>
        </p:txBody>
      </p:sp>
    </p:spTree>
    <p:extLst>
      <p:ext uri="{BB962C8B-B14F-4D97-AF65-F5344CB8AC3E}">
        <p14:creationId xmlns:p14="http://schemas.microsoft.com/office/powerpoint/2010/main" val="20175029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43739A8-6BC7-4A2C-BCB7-DBBD36A5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04775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11 个能力域覆盖 77 项特性、187 项功能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21B885-0135-40DF-B015-E8AA5537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11049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规模不是卖点本身；关键是把分散能力归并到同一生产主路径，并为用户、平台和开发者提供一致黑盒结果。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79C6AE-B6B0-41A3-AE99-4E324A320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324100"/>
            <a:ext cx="190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7"/>
          </a:solidFill>
          <a:ln xmlns:a="http://schemas.openxmlformats.org/drawingml/2006/main" w="0">
            <a:solidFill>
              <a:srgbClr val="C9D0D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E713AA-14BC-4389-8052-8A0F6959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276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6941C4-FA55-4E87-97DF-1511A2D8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105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C566D0-C3C6-4C85-8A79-E9055F27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886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D0F884-3FE3-41C9-823C-8DF26648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724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D4F724-55BF-42FC-8F95-22ADCAD6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01 / ENTRY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25FD7A-1F76-468E-8885-63312EF6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95525"/>
            <a:ext cx="13811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可信入口层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9A2184-F74D-4F10-A3C8-15A28094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952625"/>
            <a:ext cx="2305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E90039-280E-4D3E-BE9B-78535F64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952625"/>
            <a:ext cx="2305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7"/>
          </a:solidFill>
          <a:ln xmlns:a="http://schemas.openxmlformats.org/drawingml/2006/main" w="0">
            <a:solidFill>
              <a:srgbClr val="C9D0D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530BFD-C8B1-4FAD-8372-B8AD47BB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52625"/>
            <a:ext cx="2305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F898E4-0152-45D7-BF91-22FB097F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52625"/>
            <a:ext cx="2305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7"/>
          </a:solidFill>
          <a:ln xmlns:a="http://schemas.openxmlformats.org/drawingml/2006/main" w="0">
            <a:solidFill>
              <a:srgbClr val="C9D0D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638F26-43AB-464F-B827-6A84CA37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52625"/>
            <a:ext cx="2305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F31DE5-0EBC-4F4E-A080-38BB89B9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52625"/>
            <a:ext cx="2305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7"/>
          </a:solidFill>
          <a:ln xmlns:a="http://schemas.openxmlformats.org/drawingml/2006/main" w="0">
            <a:solidFill>
              <a:srgbClr val="C9D0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1210FC-9BB1-4822-9A9A-1EF02018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52625"/>
            <a:ext cx="2305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82DB34-716C-48A2-B6B3-99873AAA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52625"/>
            <a:ext cx="2305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7"/>
          </a:solidFill>
          <a:ln xmlns:a="http://schemas.openxmlformats.org/drawingml/2006/main" w="0">
            <a:solidFill>
              <a:srgbClr val="C9D0D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32BFCD-4C6A-49D6-9F24-6FEB7794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057400"/>
            <a:ext cx="203835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D1 会话交互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9AF41F-262F-4D4D-9D5A-237A284C0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276475"/>
            <a:ext cx="2038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6 项特性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48050C-D1B6-4636-BCF0-4A034861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057400"/>
            <a:ext cx="203835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D2 请求运行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1FC4D9-37ED-4880-BDCF-8DEB7B00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276475"/>
            <a:ext cx="2038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8 项特性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BCDEE5-EF17-4E8F-A972-BAF1702A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57400"/>
            <a:ext cx="203835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D3 Agent 主链路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13A5D7-EEB1-42D0-BC88-7AD2DF0A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76475"/>
            <a:ext cx="2038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5 项特性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E1E58A-C144-4F46-B31B-9ED8AEDE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57400"/>
            <a:ext cx="203835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D9 Workflow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021E9E-9412-4A58-A1A2-C70447AD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276475"/>
            <a:ext cx="2038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7 项特性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BE3DC7-7417-476F-9BE1-3F288DE7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05125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02 / RUN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F169AF-8958-41BE-AE18-8E2D2135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24200"/>
            <a:ext cx="13811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运行事实层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52AD75-8D9D-4911-A4E5-D5FC531B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28925"/>
            <a:ext cx="9563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12B"/>
          </a:solidFill>
          <a:ln xmlns:a="http://schemas.openxmlformats.org/drawingml/2006/main" w="0">
            <a:solidFill>
              <a:srgbClr val="13212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B52BA6-EA69-4638-970C-8F5B1D403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94322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05B"/>
          </a:solidFill>
          <a:ln xmlns:a="http://schemas.openxmlformats.org/drawingml/2006/main" w="0">
            <a:solidFill>
              <a:srgbClr val="42505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B8956C-A033-491E-9120-D7D856A4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4322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05B"/>
          </a:solidFill>
          <a:ln xmlns:a="http://schemas.openxmlformats.org/drawingml/2006/main" w="0">
            <a:solidFill>
              <a:srgbClr val="42505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200C7C-9894-4F09-85E8-D27C7624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94322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05B"/>
          </a:solidFill>
          <a:ln xmlns:a="http://schemas.openxmlformats.org/drawingml/2006/main" w="0">
            <a:solidFill>
              <a:srgbClr val="42505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E57DDC-2CA2-41C1-84FE-3D1E4F18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94322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05B"/>
          </a:solidFill>
          <a:ln xmlns:a="http://schemas.openxmlformats.org/drawingml/2006/main" w="0">
            <a:solidFill>
              <a:srgbClr val="42505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2E8D8E-9DF0-4493-81A2-82458886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943225"/>
            <a:ext cx="16859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11 个能力域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831299-3FBA-4E71-A2AF-4592999F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943225"/>
            <a:ext cx="16859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77 项特性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710122-F6A3-46A1-82C1-BF9E1957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43225"/>
            <a:ext cx="16859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187 项功能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7046B3-326F-45B1-98EB-7AFFC6FA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943225"/>
            <a:ext cx="16859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69 项稳定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FD28A0-EFB6-4705-BDB8-53030913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943225"/>
            <a:ext cx="1676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8 项稳定基线在建补齐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36C113-1981-46CB-9C9C-17532EA9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86175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03 / GOVERN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7CB31FA-8C3C-4E70-A8C1-14932112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05250"/>
            <a:ext cx="13811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治理投影层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C9572A3-9202-4F6A-A74B-DD7C9EE5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609975"/>
            <a:ext cx="9563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0F5"/>
          </a:solidFill>
          <a:ln xmlns:a="http://schemas.openxmlformats.org/drawingml/2006/main" w="0">
            <a:solidFill>
              <a:srgbClr val="D9F0F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3559D4B-69BE-4C18-AA00-3D73721B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609975"/>
            <a:ext cx="9563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7C02D5B-18D0-4F7E-8512-C2FF7C97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714750"/>
            <a:ext cx="95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D2DC"/>
          </a:solidFill>
          <a:ln xmlns:a="http://schemas.openxmlformats.org/drawingml/2006/main" w="0">
            <a:solidFill>
              <a:srgbClr val="A9D2D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2114C08-7C61-44A0-83B3-2FBB4A7F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14750"/>
            <a:ext cx="95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D2DC"/>
          </a:solidFill>
          <a:ln xmlns:a="http://schemas.openxmlformats.org/drawingml/2006/main" w="0">
            <a:solidFill>
              <a:srgbClr val="A9D2D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4468CDD-0409-47CB-A06D-8DB6C318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714750"/>
            <a:ext cx="95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D2DC"/>
          </a:solidFill>
          <a:ln xmlns:a="http://schemas.openxmlformats.org/drawingml/2006/main" w="0">
            <a:solidFill>
              <a:srgbClr val="A9D2D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E67526A-AD76-4E6C-8A14-FFFF1C3B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724275"/>
            <a:ext cx="2095500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D4 模型上下文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55EE52B-630C-4560-B8DC-D58F8372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962400"/>
            <a:ext cx="2095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8 项特性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F47400E-5CF2-473E-887D-78DC5E0D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724275"/>
            <a:ext cx="2095500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D5 Capability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272B631-4E0B-4B25-9C33-D5150263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962400"/>
            <a:ext cx="2095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7 项特性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9D74B34-1161-4EAE-823E-C7DB95F5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724275"/>
            <a:ext cx="2095500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D6 安全治理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A70F47F-E0DF-458F-9E89-D8933F47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62400"/>
            <a:ext cx="2095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7 项特性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36DC502-A3C0-4102-8339-64E304B9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724275"/>
            <a:ext cx="2095500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D8 数据记忆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C1C5423-EAC2-4E60-B8C0-E279C1AD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962400"/>
            <a:ext cx="2095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7 项特性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EB0BB8B-0E4E-4974-ADA0-9F226435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24375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04 / OUTCOME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1499D51-713C-4505-8469-B6C93728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43450"/>
            <a:ext cx="13811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黑盒结果层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8B3E25D-50BA-4D11-A2B7-3CBD3581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391025"/>
            <a:ext cx="2305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212F0D0-843E-4BEC-B8B4-1D24FD458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391025"/>
            <a:ext cx="3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36E79A6-2A0E-4967-BEB8-145B94D1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391025"/>
            <a:ext cx="2305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E137393-D860-4476-BC9C-456C5F40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391025"/>
            <a:ext cx="3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8E519B7-5BA5-4DF9-B342-91CBD09B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91025"/>
            <a:ext cx="2305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7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EA0019C-C445-4734-BB0B-4DF445C4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91025"/>
            <a:ext cx="3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CDBFD9A-BE13-4ABE-B4CA-BADEF40F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91025"/>
            <a:ext cx="2305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0D12D61-4DA6-428B-8710-6BE2F457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91025"/>
            <a:ext cx="3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1372614-11FC-49FA-AE39-CA634217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505325"/>
            <a:ext cx="20002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D7 可观测审计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A2444A5-3D6D-4A1D-84D9-BE02DCB8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772025"/>
            <a:ext cx="2000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6 项特性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F944541-3C20-4511-A365-B7A5C7119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505325"/>
            <a:ext cx="20002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D10 二次开发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FC13CC8-A4BC-4F95-9690-392BFE47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772025"/>
            <a:ext cx="2000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11 项特性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299E5D8-3247-4B0E-832D-48E2DDC5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05325"/>
            <a:ext cx="20002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D11 可靠韧性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85EC67C-89CF-4592-907C-65295C4E3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772025"/>
            <a:ext cx="2000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5 项特性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8ABE77E-7C3E-4C66-81FA-36A56784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505325"/>
            <a:ext cx="20002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统一验收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0198E6F-8333-480F-AE35-A15D0F85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772025"/>
            <a:ext cx="2000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正常 + 异常 + 安全反例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EE014CF-5ADF-4C58-9945-444819E9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67350"/>
            <a:ext cx="11049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覆盖口径：稳定 69；稳定基线在建补齐 8；在建 0；规划 0。数字用于界定能力范围，不替代逐项黑盒验收。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597C3D6-5DEE-45A2-A72E-25121F00F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7A848F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依据：重组版能力域全景与 NextAgent Feature / Function List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63940C7-E44C-4869-B89E-671458E1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57950"/>
            <a:ext cx="838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A848F"/>
                </a:solidFill>
                <a:latin typeface="Microsoft YaHei"/>
                <a:ea typeface="Microsoft YaHei"/>
                <a:cs typeface="Microsoft YaHei"/>
              </a:defRPr>
            </a:pPr>
            <a:r>
              <a:t>03 / 28</a:t>
            </a:r>
          </a:p>
        </p:txBody>
      </p:sp>
    </p:spTree>
    <p:extLst>
      <p:ext uri="{BB962C8B-B14F-4D97-AF65-F5344CB8AC3E}">
        <p14:creationId xmlns:p14="http://schemas.microsoft.com/office/powerpoint/2010/main" val="1287207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43739A8-6BC7-4A2C-BCB7-DBBD36A5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04775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11 个能力域，最终收敛为一条可验证的任务闭环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21B885-0135-40DF-B015-E8AA5537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11049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各能力不形成平行产品路径：可信入口确定身份，Runtime 固化装配并推进同一 run，治理层约束执行，最终以统一事实对外投影。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79C6AE-B6B0-41A3-AE99-4E324A320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324100"/>
            <a:ext cx="190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7"/>
          </a:solidFill>
          <a:ln xmlns:a="http://schemas.openxmlformats.org/drawingml/2006/main" w="0">
            <a:solidFill>
              <a:srgbClr val="C9D0D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E713AA-14BC-4389-8052-8A0F6959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276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6941C4-FA55-4E87-97DF-1511A2D8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105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C566D0-C3C6-4C85-8A79-E9055F27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886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D0F884-3FE3-41C9-823C-8DF26648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724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D4F724-55BF-42FC-8F95-22ADCAD6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01 / ENTRY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25FD7A-1F76-468E-8885-63312EF6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95525"/>
            <a:ext cx="13811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可信入口层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9A2184-F74D-4F10-A3C8-15A28094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952625"/>
            <a:ext cx="2305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E90039-280E-4D3E-BE9B-78535F64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952625"/>
            <a:ext cx="2305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7"/>
          </a:solidFill>
          <a:ln xmlns:a="http://schemas.openxmlformats.org/drawingml/2006/main" w="0">
            <a:solidFill>
              <a:srgbClr val="C9D0D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530BFD-C8B1-4FAD-8372-B8AD47BB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52625"/>
            <a:ext cx="2305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F898E4-0152-45D7-BF91-22FB097F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52625"/>
            <a:ext cx="2305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7"/>
          </a:solidFill>
          <a:ln xmlns:a="http://schemas.openxmlformats.org/drawingml/2006/main" w="0">
            <a:solidFill>
              <a:srgbClr val="C9D0D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638F26-43AB-464F-B827-6A84CA37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52625"/>
            <a:ext cx="2305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F31DE5-0EBC-4F4E-A080-38BB89B9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52625"/>
            <a:ext cx="2305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7"/>
          </a:solidFill>
          <a:ln xmlns:a="http://schemas.openxmlformats.org/drawingml/2006/main" w="0">
            <a:solidFill>
              <a:srgbClr val="C9D0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1210FC-9BB1-4822-9A9A-1EF02018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52625"/>
            <a:ext cx="2305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82DB34-716C-48A2-B6B3-99873AAA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52625"/>
            <a:ext cx="2305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7"/>
          </a:solidFill>
          <a:ln xmlns:a="http://schemas.openxmlformats.org/drawingml/2006/main" w="0">
            <a:solidFill>
              <a:srgbClr val="C9D0D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32BFCD-4C6A-49D6-9F24-6FEB7794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057400"/>
            <a:ext cx="203835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Web / IM / ITSM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9AF41F-262F-4D4D-9D5A-237A284C0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276475"/>
            <a:ext cx="2038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认证、Schema、幂等键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48050C-D1B6-4636-BCF0-4A034861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057400"/>
            <a:ext cx="203835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Hosted Agent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1FC4D9-37ED-4880-BDCF-8DEB7B00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276475"/>
            <a:ext cx="2038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可信 Agent 选择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BCDEE5-EF17-4E8F-A972-BAF1702A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57400"/>
            <a:ext cx="203835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Task / A2A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13A5D7-EEB1-42D0-BC88-7AD2DF0A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76475"/>
            <a:ext cx="2038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委托、状态与结果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E1E58A-C144-4F46-B31B-9ED8AEDE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57400"/>
            <a:ext cx="203835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Customer Channel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021E9E-9412-4A58-A1A2-C70447AD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276475"/>
            <a:ext cx="2038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协议适配与安全响应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BE3DC7-7417-476F-9BE1-3F288DE7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05125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02 / RUN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F169AF-8958-41BE-AE18-8E2D2135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24200"/>
            <a:ext cx="13811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运行事实层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52AD75-8D9D-4911-A4E5-D5FC531B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28925"/>
            <a:ext cx="9563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12B"/>
          </a:solidFill>
          <a:ln xmlns:a="http://schemas.openxmlformats.org/drawingml/2006/main" w="0">
            <a:solidFill>
              <a:srgbClr val="13212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B52BA6-EA69-4638-970C-8F5B1D403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94322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05B"/>
          </a:solidFill>
          <a:ln xmlns:a="http://schemas.openxmlformats.org/drawingml/2006/main" w="0">
            <a:solidFill>
              <a:srgbClr val="42505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B8956C-A033-491E-9120-D7D856A4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4322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05B"/>
          </a:solidFill>
          <a:ln xmlns:a="http://schemas.openxmlformats.org/drawingml/2006/main" w="0">
            <a:solidFill>
              <a:srgbClr val="42505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200C7C-9894-4F09-85E8-D27C7624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94322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05B"/>
          </a:solidFill>
          <a:ln xmlns:a="http://schemas.openxmlformats.org/drawingml/2006/main" w="0">
            <a:solidFill>
              <a:srgbClr val="42505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E57DDC-2CA2-41C1-84FE-3D1E4F18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94322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05B"/>
          </a:solidFill>
          <a:ln xmlns:a="http://schemas.openxmlformats.org/drawingml/2006/main" w="0">
            <a:solidFill>
              <a:srgbClr val="42505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2E8D8E-9DF0-4493-81A2-82458886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943225"/>
            <a:ext cx="16859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RequestRun | 受理坐标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831299-3FBA-4E71-A2AF-4592999F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943225"/>
            <a:ext cx="16859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Canonical Timeline | 统一时间线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710122-F6A3-46A1-82C1-BF9E1957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43225"/>
            <a:ext cx="16859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Context / Route Evidence | 上下文与路径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7046B3-326F-45B1-98EB-7AFFC6FA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943225"/>
            <a:ext cx="16859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Capability Result | 能力结果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FD28A0-EFB6-4705-BDB8-53030913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943225"/>
            <a:ext cx="1676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Gateway Facts | 持久化事实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36C113-1981-46CB-9C9C-17532EA9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86175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03 / GOVERN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7CB31FA-8C3C-4E70-A8C1-14932112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05250"/>
            <a:ext cx="13811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治理投影层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C9572A3-9202-4F6A-A74B-DD7C9EE5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609975"/>
            <a:ext cx="9563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0F5"/>
          </a:solidFill>
          <a:ln xmlns:a="http://schemas.openxmlformats.org/drawingml/2006/main" w="0">
            <a:solidFill>
              <a:srgbClr val="D9F0F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3559D4B-69BE-4C18-AA00-3D73721B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609975"/>
            <a:ext cx="9563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7C02D5B-18D0-4F7E-8512-C2FF7C97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714750"/>
            <a:ext cx="95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D2DC"/>
          </a:solidFill>
          <a:ln xmlns:a="http://schemas.openxmlformats.org/drawingml/2006/main" w="0">
            <a:solidFill>
              <a:srgbClr val="A9D2D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2114C08-7C61-44A0-83B3-2FBB4A7F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14750"/>
            <a:ext cx="95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D2DC"/>
          </a:solidFill>
          <a:ln xmlns:a="http://schemas.openxmlformats.org/drawingml/2006/main" w="0">
            <a:solidFill>
              <a:srgbClr val="A9D2D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4468CDD-0409-47CB-A06D-8DB6C318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714750"/>
            <a:ext cx="95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D2DC"/>
          </a:solidFill>
          <a:ln xmlns:a="http://schemas.openxmlformats.org/drawingml/2006/main" w="0">
            <a:solidFill>
              <a:srgbClr val="A9D2D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E67526A-AD76-4E6C-8A14-FFFF1C3B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724275"/>
            <a:ext cx="2095500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双 Scope 校验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55EE52B-630C-4560-B8DC-D58F8372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962400"/>
            <a:ext cx="2095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Agent Scope + Owner Scope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F47400E-5CF2-473E-887D-78DC5E0D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724275"/>
            <a:ext cx="2095500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能力治理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272B631-4E0B-4B25-9C33-D5150263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962400"/>
            <a:ext cx="2095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Catalog + binding + policy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9D74B34-1161-4EAE-823E-C7DB95F5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724275"/>
            <a:ext cx="2095500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受控执行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A70F47F-E0DF-458F-9E89-D8933F47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62400"/>
            <a:ext cx="2095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sandbox + pending input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36DC502-A3C0-4102-8339-64E304B9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724275"/>
            <a:ext cx="2095500" cy="180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安全观测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C1C5423-EAC2-4E60-B8C0-E279C1AD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962400"/>
            <a:ext cx="2095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log + audit + metric + trace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EB0BB8B-0E4E-4974-ADA0-9F226435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24375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04 / OUTCOME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1499D51-713C-4505-8469-B6C93728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43450"/>
            <a:ext cx="13811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黑盒结果层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8B3E25D-50BA-4D11-A2B7-3CBD3581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391025"/>
            <a:ext cx="2305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212F0D0-843E-4BEC-B8B4-1D24FD458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391025"/>
            <a:ext cx="3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36E79A6-2A0E-4967-BEB8-145B94D1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391025"/>
            <a:ext cx="2305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E137393-D860-4476-BC9C-456C5F40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391025"/>
            <a:ext cx="3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8E519B7-5BA5-4DF9-B342-91CBD09B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91025"/>
            <a:ext cx="2305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7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EA0019C-C445-4734-BB0B-4DF445C4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91025"/>
            <a:ext cx="3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CDBFD9A-BE13-4ABE-B4CA-BADEF40F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91025"/>
            <a:ext cx="2305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0D12D61-4DA6-428B-8710-6BE2F457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91025"/>
            <a:ext cx="3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1372614-11FC-49FA-AE39-CA634217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505325"/>
            <a:ext cx="20002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可观察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A2444A5-3D6D-4A1D-84D9-BE02DCB8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772025"/>
            <a:ext cx="2000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状态 · 进展 · 操作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F944541-3C20-4511-A365-B7A5C7119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505325"/>
            <a:ext cx="20002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可控制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FC13CC8-A4BC-4F95-9690-392BFE47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772025"/>
            <a:ext cx="2000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停止 · 编辑 · 重试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299E5D8-3247-4B0E-832D-48E2DDC5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05325"/>
            <a:ext cx="20002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可恢复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85EC67C-89CF-4592-907C-65295C4E3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772025"/>
            <a:ext cx="2000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重放 · checkpoint · 重启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8ABE77E-7C3E-4C66-81FA-36A56784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505325"/>
            <a:ext cx="20002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可交付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0198E6F-8333-480F-AE35-A15D0F85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772025"/>
            <a:ext cx="2000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证据 · 审计 · E2E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EE014CF-5ADF-4C58-9945-444819E9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67350"/>
            <a:ext cx="11049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关键边界：Channel 不拥有生命周期；模型和 Capability 不得覆盖身份；accepted 后不重新选择 Agent 装配。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597C3D6-5DEE-45A2-A72E-25121F00F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7A848F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依据：D1-D11 能力域与主链路架构约束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63940C7-E44C-4869-B89E-671458E1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57950"/>
            <a:ext cx="838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A848F"/>
                </a:solidFill>
                <a:latin typeface="Microsoft YaHei"/>
                <a:ea typeface="Microsoft YaHei"/>
                <a:cs typeface="Microsoft YaHei"/>
              </a:defRPr>
            </a:pPr>
            <a:r>
              <a:t>04 / 28</a:t>
            </a:r>
          </a:p>
        </p:txBody>
      </p:sp>
    </p:spTree>
    <p:extLst>
      <p:ext uri="{BB962C8B-B14F-4D97-AF65-F5344CB8AC3E}">
        <p14:creationId xmlns:p14="http://schemas.microsoft.com/office/powerpoint/2010/main" val="1287207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4D06B725-B1E0-4B3A-9188-B1CC972E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04775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一次运维请求，经历受理、推进、控险、交付与持续协作</a:t>
            </a:r>
          </a:p>
        </p:txBody>
      </p:sp>
      <p:cxnSp>
        <p:nvCxnSpPr>
          <p:cNvPr id="197" name=""/>
          <p:cNvCxnSpPr/>
          <p:nvPr/>
        </p:nvCxnSpPr>
        <p:spPr>
          <a:xfrm xmlns:a="http://schemas.openxmlformats.org/drawingml/2006/main">
            <a:off x="457200" y="1457325"/>
            <a:ext cx="54102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0D7"/>
            </a:solidFill>
            <a:prstDash val="solid"/>
          </a:ln>
        </p:spPr>
      </p:cxnSp>
      <p:cxnSp>
        <p:nvCxnSpPr>
          <p:cNvPr id="198" name=""/>
          <p:cNvCxnSpPr/>
          <p:nvPr/>
        </p:nvCxnSpPr>
        <p:spPr>
          <a:xfrm xmlns:a="http://schemas.openxmlformats.org/drawingml/2006/main">
            <a:off x="6096000" y="1457325"/>
            <a:ext cx="56388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0D7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522E72-3CB6-4855-9E35-B0558EB8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33525"/>
            <a:ext cx="114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01 / 是什么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22FB8B-B816-4B86-BD34-AB9441C2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43075"/>
            <a:ext cx="5334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把一段自然语言输入升级为带有稳定坐标、连续状态和权威终态的运行任务。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C9093D-336C-406D-BB22-80D6682D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33525"/>
            <a:ext cx="114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02 / 为什么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4AE9EA-F75F-49E4-B4D4-F6966F94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43075"/>
            <a:ext cx="552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消除黑盒等待、重复提交和异常后的状态不确定，让用户知道何时介入。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91E4D8-9CF2-4C70-BA2F-07091D04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85975"/>
            <a:ext cx="10668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03 / 怎么做：围绕同一 session / request / run 持续投影真实状态，并把人工决策送回同一时间线</a:t>
            </a:r>
          </a:p>
        </p:txBody>
      </p:sp>
      <p:cxnSp>
        <p:nvCxnSpPr>
          <p:cNvPr id="204" name=""/>
          <p:cNvCxnSpPr/>
          <p:nvPr/>
        </p:nvCxnSpPr>
        <p:spPr>
          <a:xfrm xmlns:a="http://schemas.openxmlformats.org/drawingml/2006/main">
            <a:off x="571500" y="2305050"/>
            <a:ext cx="106680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0D7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38995A-6209-4064-B193-87F94925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4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273A8D-9851-4F2C-8450-BA12494B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24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90BBC7-EECA-4EAC-8B5E-56FE875A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24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D53066-F849-4863-951F-AE5004C1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24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45DBB9-29EE-440E-B1EB-C61C2365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24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C544C1-5CDA-41E0-8AEB-CB0F245A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9555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01 / 请求受理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B7B651-FBF0-4313-8A8C-C4D8D04D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已受理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B8261A-70AF-4EEA-939C-30D5B6E9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1857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立即返回任务坐标；重复幂等键不重复执行。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958531-3528-4CE3-AF63-73FBA7B3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49555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02 / 信息准备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D36A0C-8526-4354-8A38-7337F7ED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76225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分析中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C63E43-5C8A-4AEC-A94E-B427541B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143250"/>
            <a:ext cx="1857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组装当前请求、历史、知识与受控附件。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9A7223-9804-462D-A4DC-274A4D46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9555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03 / 能力执行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0C7F3B-B98C-40D3-8718-A4BB2004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6225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执行中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4414DA-BF19-4C8D-AA77-A73C459E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43250"/>
            <a:ext cx="1857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展示所用能力、阶段和安全摘要。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6C20E5-CD7B-4466-B8A2-8DF84FD4A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9555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04 / 等待决策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FDF2B5-C32D-4FE0-ABF2-277FDD48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6225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等待输入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F0D079-BD2D-403A-A84A-08079C94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143250"/>
            <a:ext cx="1857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补充、确认、授权或人工接管。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59D8C8-ACF0-4217-A3D4-74002BBA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49555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05 / 结果交付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5876A3-C8BF-4769-875D-C6FBF89C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6225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已结束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C6DBF5-6797-4503-B289-F21AC14D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43250"/>
            <a:ext cx="1857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完成、失败或取消形成唯一终态。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30AEBA-B12A-44E0-A61E-E7DF2FF9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3476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9368F0-D62E-4304-8FDE-EFF953A3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4758B7-4D97-4870-AA50-70CA82F0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81450"/>
            <a:ext cx="304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运行控制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471CD4-C64A-4455-AD77-C42F993AF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38625"/>
            <a:ext cx="3048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停止、编辑、重试、继续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E433D0-E736-4691-9D89-C53F0FFA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857625"/>
            <a:ext cx="3476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A2BB7B-1AE4-4377-BCC3-30B4CF85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857625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05188C0-FA4F-44AD-80C7-37CFFCD3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981450"/>
            <a:ext cx="304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恢复能力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DB0DFF-94A6-4AAE-8AB0-2ADB9711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238625"/>
            <a:ext cx="3048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断线重放、历史重建、checkpoint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E469C0-D835-41C3-A44E-54A0838D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57625"/>
            <a:ext cx="3943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E99490B-03F1-4891-A85E-4074F259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57625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FAE7BA0-171C-4116-8171-2E3FE459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81450"/>
            <a:ext cx="34766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证据交付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6E9C95B-A2C9-4182-B27F-AE0E93B3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38625"/>
            <a:ext cx="34766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结论依据、安全摘要、审计链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D42F647-B7DF-4681-95F6-DA1430BD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5410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7B64D1F-CFA9-436E-943B-4F48E64F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14900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04 / 做成什么样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BF04B1-CF81-4762-ACB0-A5CAC26F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0"/>
            <a:ext cx="495300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可引用、可观察、可控制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193F909-9444-4117-8CCB-31EEDFF7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76875"/>
            <a:ext cx="495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用户始终围绕同一任务坐标查看进展和结果。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B40AC84-F9B8-4560-BCBF-05C9D219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62500"/>
            <a:ext cx="5638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12B"/>
          </a:solidFill>
          <a:ln xmlns:a="http://schemas.openxmlformats.org/drawingml/2006/main" w="0">
            <a:solidFill>
              <a:srgbClr val="13212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3B9F64E-A05A-4368-B265-C0902AB1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14900"/>
            <a:ext cx="5143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76D4E6"/>
                </a:solidFill>
                <a:latin typeface="Microsoft YaHei"/>
                <a:ea typeface="Microsoft YaHei"/>
                <a:cs typeface="Microsoft YaHei"/>
              </a:defRPr>
            </a:pPr>
            <a:r>
              <a:t>05 / 到什么程度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F814155-86E5-4B1C-9192-42DF4F3A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43500"/>
            <a:ext cx="514350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状态同源、断点可续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6B99F61-C6C0-4D55-86E5-1B7C7383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76875"/>
            <a:ext cx="5143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C7D2DC"/>
                </a:solidFill>
                <a:latin typeface="Microsoft YaHei"/>
                <a:ea typeface="Microsoft YaHei"/>
                <a:cs typeface="Microsoft YaHei"/>
              </a:defRPr>
            </a:pPr>
            <a:r>
              <a:t>stream、history、audit 与恢复后终态保持一致。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DCF344D-6284-4CB9-B779-37D62F71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7A848F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依据：会话交互、请求运行时、可靠性与韧性特性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0BEAC30-8F01-48C0-82DA-22EB24E3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57950"/>
            <a:ext cx="1790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A848F"/>
                </a:solidFill>
                <a:latin typeface="Microsoft YaHei"/>
                <a:ea typeface="Microsoft YaHei"/>
                <a:cs typeface="Microsoft YaHei"/>
              </a:defRPr>
            </a:pPr>
            <a:r>
              <a:t>05 / 28</a:t>
            </a:r>
          </a:p>
        </p:txBody>
      </p:sp>
    </p:spTree>
    <p:extLst>
      <p:ext uri="{BB962C8B-B14F-4D97-AF65-F5344CB8AC3E}">
        <p14:creationId xmlns:p14="http://schemas.microsoft.com/office/powerpoint/2010/main" val="5619868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29B3A3E-41EB-4FF8-8CAA-3AFD8BC8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95250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两类范式，分别消除“流程失控”和“探索不透明”</a:t>
            </a:r>
          </a:p>
        </p:txBody>
      </p:sp>
      <p:cxnSp>
        <p:nvCxnSpPr>
          <p:cNvPr id="180" name=""/>
          <p:cNvCxnSpPr/>
          <p:nvPr/>
        </p:nvCxnSpPr>
        <p:spPr>
          <a:xfrm xmlns:a="http://schemas.openxmlformats.org/drawingml/2006/main">
            <a:off x="457200" y="1457325"/>
            <a:ext cx="54102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0D7"/>
            </a:solidFill>
            <a:prstDash val="solid"/>
          </a:ln>
        </p:spPr>
      </p:cxnSp>
      <p:cxnSp>
        <p:nvCxnSpPr>
          <p:cNvPr id="181" name=""/>
          <p:cNvCxnSpPr/>
          <p:nvPr/>
        </p:nvCxnSpPr>
        <p:spPr>
          <a:xfrm xmlns:a="http://schemas.openxmlformats.org/drawingml/2006/main">
            <a:off x="6096000" y="1457325"/>
            <a:ext cx="56388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0D7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BFF148-36FE-41D0-A0E9-F91C9A36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33525"/>
            <a:ext cx="114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01 / 是什么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6E4B95-121C-4727-94BD-AFA3824B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43075"/>
            <a:ext cx="5334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Workflow 解决已知流程的执行黑盒；Agent Loop 解决未知路径的推理黑盒。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622207-E02C-4D38-B745-03DA6BB5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33525"/>
            <a:ext cx="114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02 / 为什么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36BBC5-446B-4F5F-A361-B7EA3F1B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43075"/>
            <a:ext cx="552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只强调灵活会让流程不可预测，只强调固定会让复杂诊断无法探索。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699335-4A28-43FB-8861-ADAD3888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10668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03 / 怎么做：先识别黑盒问题，再选择主范式；二者共享 scope、timeline、治理和终态</a:t>
            </a:r>
          </a:p>
        </p:txBody>
      </p:sp>
      <p:cxnSp>
        <p:nvCxnSpPr>
          <p:cNvPr id="187" name=""/>
          <p:cNvCxnSpPr/>
          <p:nvPr/>
        </p:nvCxnSpPr>
        <p:spPr>
          <a:xfrm xmlns:a="http://schemas.openxmlformats.org/drawingml/2006/main">
            <a:off x="571500" y="2476500"/>
            <a:ext cx="106680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0D7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735DCF-056A-469D-B888-E1FA4261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19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912A63-3C4D-4754-B071-F39D6C65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419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75E744-CE10-4112-97DF-D0C0F3FB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419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F69070-6BBF-4E00-8643-B0D9D897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419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4AE29D-0A6B-44A1-B4C9-ADB83851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86050"/>
            <a:ext cx="2190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01 / Workflow 问题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D5AC04-3957-4471-A160-50ED4CF6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90850"/>
            <a:ext cx="2286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流程推进失控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EC23EE-3DB4-4AA7-8FF4-059B5A12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6625"/>
            <a:ext cx="22860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用户不知道走到哪一步、为何等待、失败后从哪里恢复。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D12B45-6715-43AB-AE7F-3BD532D8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686050"/>
            <a:ext cx="2190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02 / Workflow 效果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C3723C-2F6E-4127-ADEE-E93CB04F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90850"/>
            <a:ext cx="2286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过程可预测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663140-7BC5-46C3-AB3C-7ADBD3252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76625"/>
            <a:ext cx="22860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Recipe、当前节点、人工关口、恢复路径和终态均可查看。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758977-389C-492C-87EC-CF0FDAA4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686050"/>
            <a:ext cx="2190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03 / Agent Loop 问题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ACF4AA-B695-4ABD-ADE1-CC22ADEC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90850"/>
            <a:ext cx="2286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探索过程不透明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48E7A6-75C5-4B03-8ACD-5D14DC9C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476625"/>
            <a:ext cx="22860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用户不知道为何调用能力、证据是否充分、何时停止。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F6F5C9-AE46-4B3A-8F22-FBC2CCB3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190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04 / Agent Loop 效果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F38D93-0B13-4EA8-A420-AFFCC2A6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90850"/>
            <a:ext cx="238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推理可解释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CD8703-7E47-464C-AAA4-24CC5A47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76625"/>
            <a:ext cx="23812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行动、观察、证据缺口与收敛原因均可追溯。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478E78-40D8-4A3D-A696-EA18C0BC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70008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D82369-9716-4978-9F56-D930A2B8A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57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A5A569-A899-43A4-8226-780D5088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647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04 / 做成什么样：流程有进度，探索有依据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24C6FA-015C-40BC-9DAA-5A5D39EB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48300"/>
            <a:ext cx="6477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用户能分别核查阶段、关口、行动、证据和停止原因。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7AB498-4C60-4C97-BD34-08885AB6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857750"/>
            <a:ext cx="39909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12B"/>
          </a:solidFill>
          <a:ln xmlns:a="http://schemas.openxmlformats.org/drawingml/2006/main" w="0">
            <a:solidFill>
              <a:srgbClr val="13212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EBFC20-4176-4B18-AF0E-228C7690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048250"/>
            <a:ext cx="3524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05 / 到什么程度：两类黑盒共用一套任务真相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104BB0-F7E7-4039-959C-B69F1ED4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448300"/>
            <a:ext cx="3524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C7D2DC"/>
                </a:solidFill>
                <a:latin typeface="Microsoft YaHei"/>
                <a:ea typeface="Microsoft YaHei"/>
                <a:cs typeface="Microsoft YaHei"/>
              </a:defRPr>
            </a:pPr>
            <a:r>
              <a:t>Workflow 可委托未知节点给 Agent Loop，结果回到同一 run。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D2F053-A78F-4E03-9693-A21FF643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7A848F"/>
                </a:solidFill>
                <a:latin typeface="Microsoft YaHei"/>
                <a:ea typeface="Microsoft YaHei"/>
                <a:cs typeface="Microsoft YaHei"/>
              </a:defRPr>
            </a:pPr>
            <a:r>
              <a:t>黑盒划分：Workflow 管流程确定性，Agent Loop 管探索可解释性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5ED86A-4615-4B7C-8F2D-BF4330F5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57950"/>
            <a:ext cx="838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A848F"/>
                </a:solidFill>
                <a:latin typeface="Microsoft YaHei"/>
                <a:ea typeface="Microsoft YaHei"/>
                <a:cs typeface="Microsoft YaHei"/>
              </a:defRPr>
            </a:pPr>
            <a:r>
              <a:t>06 / 28</a:t>
            </a:r>
          </a:p>
        </p:txBody>
      </p:sp>
    </p:spTree>
    <p:extLst>
      <p:ext uri="{BB962C8B-B14F-4D97-AF65-F5344CB8AC3E}">
        <p14:creationId xmlns:p14="http://schemas.microsoft.com/office/powerpoint/2010/main" val="10646105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4D06B725-B1E0-4B3A-9188-B1CC972E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04775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Workflow：用版本化流程承载可预测执行</a:t>
            </a:r>
          </a:p>
        </p:txBody>
      </p:sp>
      <p:cxnSp>
        <p:nvCxnSpPr>
          <p:cNvPr id="197" name=""/>
          <p:cNvCxnSpPr/>
          <p:nvPr/>
        </p:nvCxnSpPr>
        <p:spPr>
          <a:xfrm xmlns:a="http://schemas.openxmlformats.org/drawingml/2006/main">
            <a:off x="457200" y="1457325"/>
            <a:ext cx="54102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0D7"/>
            </a:solidFill>
            <a:prstDash val="solid"/>
          </a:ln>
        </p:spPr>
      </p:cxnSp>
      <p:cxnSp>
        <p:nvCxnSpPr>
          <p:cNvPr id="198" name=""/>
          <p:cNvCxnSpPr/>
          <p:nvPr/>
        </p:nvCxnSpPr>
        <p:spPr>
          <a:xfrm xmlns:a="http://schemas.openxmlformats.org/drawingml/2006/main">
            <a:off x="6096000" y="1457325"/>
            <a:ext cx="56388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0D7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522E72-3CB6-4855-9E35-B0558EB8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33525"/>
            <a:ext cx="114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01 / 是什么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22FB8B-B816-4B86-BD34-AB9441C2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43075"/>
            <a:ext cx="5334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Workflow 与模型驱动循环并列，是面向高频、强约束任务的确定性执行范式。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C9093D-336C-406D-BB22-80D6682D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33525"/>
            <a:ext cx="114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02 / 为什么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4AE9EA-F75F-49E4-B4D4-F6966F94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43075"/>
            <a:ext cx="552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它解决流程执行黑盒：用户看不到当前节点、等待原因、恢复位置，也无法判断是否按版本执行。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91E4D8-9CF2-4C70-BA2F-07091D04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85975"/>
            <a:ext cx="10668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03 / 怎么做：Recipe 定义骨架，Workflow 引擎推进节点，Runtime 统一承载任务事实</a:t>
            </a:r>
          </a:p>
        </p:txBody>
      </p:sp>
      <p:cxnSp>
        <p:nvCxnSpPr>
          <p:cNvPr id="204" name=""/>
          <p:cNvCxnSpPr/>
          <p:nvPr/>
        </p:nvCxnSpPr>
        <p:spPr>
          <a:xfrm xmlns:a="http://schemas.openxmlformats.org/drawingml/2006/main">
            <a:off x="571500" y="2305050"/>
            <a:ext cx="106680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0D7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38995A-6209-4064-B193-87F94925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4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273A8D-9851-4F2C-8450-BA12494B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24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90BBC7-EECA-4EAC-8B5E-56FE875A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24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D53066-F849-4863-951F-AE5004C1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24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45DBB9-29EE-440E-B1EB-C61C2365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24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C544C1-5CDA-41E0-8AEB-CB0F245A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9555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01 / 路由进入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B7B651-FBF0-4313-8A8C-C4D8D04D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匹配 Recipe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B8261A-70AF-4EEA-939C-30D5B6E9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1857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通过显式指令或意图识别选择版本化流程。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958531-3528-4CE3-AF63-73FBA7B3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49555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02 / 节点推进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D36A0C-8526-4354-8A38-7337F7ED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76225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按图执行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C63E43-5C8A-4AEC-A94E-B427541B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143250"/>
            <a:ext cx="1857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运行网关、能力、知识、LLM 与并行节点。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9A7223-9804-462D-A4DC-274A4D46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9555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03 / 等待交互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0C7F3B-B98C-40D3-8718-A4BB2004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6225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挂起并恢复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4414DA-BF19-4C8D-AA77-A73C459E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43250"/>
            <a:ext cx="1857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QUESTION、CONFIRMATION、AUTHORIZATION 进入统一 pending input。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6C20E5-CD7B-4466-B8A2-8DF84FD4A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9555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04 / 局部探索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FDF2B5-C32D-4FE0-ABF2-277FDD48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6225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委托 Agent Loop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F0D079-BD2D-403A-A84A-08079C94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143250"/>
            <a:ext cx="1857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不确定节点可调用模型循环，结果返回同一 Workflow。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59D8C8-ACF0-4217-A3D4-74002BBA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49555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05 / 终态交付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5876A3-C8BF-4769-875D-C6FBF89C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6225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同一任务真相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C6DBF5-6797-4503-B289-F21AC14D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43250"/>
            <a:ext cx="1857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状态、结果、失败、恢复和审计仍归同一 run。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30AEBA-B12A-44E0-A61E-E7DF2FF9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3476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9368F0-D62E-4304-8FDE-EFF953A3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4758B7-4D97-4870-AA50-70CA82F0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81450"/>
            <a:ext cx="304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定义资产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471CD4-C64A-4455-AD77-C42F993AF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38625"/>
            <a:ext cx="3048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Recipe DSL · FlowGraph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E433D0-E736-4691-9D89-C53F0FFA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857625"/>
            <a:ext cx="3476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A2BB7B-1AE4-4377-BCC3-30B4CF85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857625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05188C0-FA4F-44AD-80C7-37CFFCD3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981450"/>
            <a:ext cx="304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节点族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DB0DFF-94A6-4AAE-8AB0-2ADB9711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238625"/>
            <a:ext cx="3048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Gateway · Capability · LLM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E469C0-D835-41C3-A44E-54A0838D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57625"/>
            <a:ext cx="3943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E99490B-03F1-4891-A85E-4074F259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57625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FAE7BA0-171C-4116-8171-2E3FE459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81450"/>
            <a:ext cx="34766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恢复语义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6E9C95B-A2C9-4182-B27F-AE0E93B3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38625"/>
            <a:ext cx="34766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snapshot · resume · recovery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D42F647-B7DF-4681-95F6-DA1430BD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5410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7B64D1F-CFA9-436E-943B-4F48E64F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14900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04 / 做成什么样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BF04B1-CF81-4762-ACB0-A5CAC26F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0"/>
            <a:ext cx="495300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流程推进看得见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193F909-9444-4117-8CCB-31EEDFF7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76875"/>
            <a:ext cx="495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流程版本、当前节点、输入输出与人工关口均可核查。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B40AC84-F9B8-4560-BCBF-05C9D219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62500"/>
            <a:ext cx="5638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12B"/>
          </a:solidFill>
          <a:ln xmlns:a="http://schemas.openxmlformats.org/drawingml/2006/main" w="0">
            <a:solidFill>
              <a:srgbClr val="13212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3B9F64E-A05A-4368-B265-C0902AB1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14900"/>
            <a:ext cx="5143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76D4E6"/>
                </a:solidFill>
                <a:latin typeface="Microsoft YaHei"/>
                <a:ea typeface="Microsoft YaHei"/>
                <a:cs typeface="Microsoft YaHei"/>
              </a:defRPr>
            </a:pPr>
            <a:r>
              <a:t>05 / 到什么程度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F814155-86E5-4B1C-9192-42DF4F3A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43500"/>
            <a:ext cx="514350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失败后知道怎么继续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6B99F61-C6C0-4D55-86E5-1B7C7383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76875"/>
            <a:ext cx="5143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C7D2DC"/>
                </a:solidFill>
                <a:latin typeface="Microsoft YaHei"/>
                <a:ea typeface="Microsoft YaHei"/>
                <a:cs typeface="Microsoft YaHei"/>
              </a:defRPr>
            </a:pPr>
            <a:r>
              <a:t>挂起、重试、恢复和终态保持同一任务事实。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DCF344D-6284-4CB9-B779-37D62F71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7A848F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依据：D9 Workflow 执行、Recipe DSL、节点族、路由与恢复特性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0BEAC30-8F01-48C0-82DA-22EB24E3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57950"/>
            <a:ext cx="1790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A848F"/>
                </a:solidFill>
                <a:latin typeface="Microsoft YaHei"/>
                <a:ea typeface="Microsoft YaHei"/>
                <a:cs typeface="Microsoft YaHei"/>
              </a:defRPr>
            </a:pPr>
            <a:r>
              <a:t>07 / 28</a:t>
            </a:r>
          </a:p>
        </p:txBody>
      </p:sp>
    </p:spTree>
    <p:extLst>
      <p:ext uri="{BB962C8B-B14F-4D97-AF65-F5344CB8AC3E}">
        <p14:creationId xmlns:p14="http://schemas.microsoft.com/office/powerpoint/2010/main" val="5619868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4D06B725-B1E0-4B3A-9188-B1CC972E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04775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Agent Loop：让模型在边界内探索未知路径</a:t>
            </a:r>
          </a:p>
        </p:txBody>
      </p:sp>
      <p:cxnSp>
        <p:nvCxnSpPr>
          <p:cNvPr id="197" name=""/>
          <p:cNvCxnSpPr/>
          <p:nvPr/>
        </p:nvCxnSpPr>
        <p:spPr>
          <a:xfrm xmlns:a="http://schemas.openxmlformats.org/drawingml/2006/main">
            <a:off x="457200" y="1457325"/>
            <a:ext cx="54102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0D7"/>
            </a:solidFill>
            <a:prstDash val="solid"/>
          </a:ln>
        </p:spPr>
      </p:cxnSp>
      <p:cxnSp>
        <p:nvCxnSpPr>
          <p:cNvPr id="198" name=""/>
          <p:cNvCxnSpPr/>
          <p:nvPr/>
        </p:nvCxnSpPr>
        <p:spPr>
          <a:xfrm xmlns:a="http://schemas.openxmlformats.org/drawingml/2006/main">
            <a:off x="6096000" y="1457325"/>
            <a:ext cx="56388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0D7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522E72-3CB6-4855-9E35-B0558EB8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33525"/>
            <a:ext cx="114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01 / 是什么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22FB8B-B816-4B86-BD34-AB9441C2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43075"/>
            <a:ext cx="5334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Agent Loop 是模型驱动执行范式，在单次 RequestRun 内循环调用模型、工具并根据观察继续推理。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C9093D-336C-406D-BB22-80D6682D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33525"/>
            <a:ext cx="114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02 / 为什么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4AE9EA-F75F-49E4-B4D4-F6966F94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43075"/>
            <a:ext cx="552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它解决推理探索黑盒：用户看不到模型为何行动、证据是否充分，也无法判断何时会停止。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91E4D8-9CF2-4C70-BA2F-07091D04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85975"/>
            <a:ext cx="10668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03 / 怎么做：模型决定下一步，Capability 返回事实，Runtime 用预算与治理控制收敛</a:t>
            </a:r>
          </a:p>
        </p:txBody>
      </p:sp>
      <p:cxnSp>
        <p:nvCxnSpPr>
          <p:cNvPr id="204" name=""/>
          <p:cNvCxnSpPr/>
          <p:nvPr/>
        </p:nvCxnSpPr>
        <p:spPr>
          <a:xfrm xmlns:a="http://schemas.openxmlformats.org/drawingml/2006/main">
            <a:off x="571500" y="2305050"/>
            <a:ext cx="106680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0D7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38995A-6209-4064-B193-87F94925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4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273A8D-9851-4F2C-8450-BA12494B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24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90BBC7-EECA-4EAC-8B5E-56FE875A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24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D53066-F849-4863-951F-AE5004C1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24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45DBB9-29EE-440E-B1EB-C61C2365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24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C544C1-5CDA-41E0-8AEB-CB0F245A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9555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01 / 理解任务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B7B651-FBF0-4313-8A8C-C4D8D04D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构造上下文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B8261A-70AF-4EEA-939C-30D5B6E9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1857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组合请求、历史、受控知识与已绑定能力。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958531-3528-4CE3-AF63-73FBA7B3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49555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02 / 提出行动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D36A0C-8526-4354-8A38-7337F7ED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76225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模型选择 Tool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C63E43-5C8A-4AEC-A94E-B427541B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143250"/>
            <a:ext cx="1857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模型只从当前 Agent 已授权能力中选择下一步。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9A7223-9804-462D-A4DC-274A4D46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9555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03 / 执行观察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0C7F3B-B98C-40D3-8718-A4BB2004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6225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返回规范结果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4414DA-BF19-4C8D-AA77-A73C459E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43250"/>
            <a:ext cx="1857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Tool 通过 sandbox / gateway 执行并返回安全结果。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6C20E5-CD7B-4466-B8A2-8DF84FD4A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9555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04 / 继续或提问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FDF2B5-C32D-4FE0-ABF2-277FDD48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6225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循环收敛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F0D079-BD2D-403A-A84A-08079C94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143250"/>
            <a:ext cx="1857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证据不足时继续探索，关键缺口转为用户交互。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59D8C8-ACF0-4217-A3D4-74002BBA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49555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05 / 形成终态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5876A3-C8BF-4769-875D-C6FBF89C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6225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提交结论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C6DBF5-6797-4503-B289-F21AC14D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43250"/>
            <a:ext cx="1857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无 Tool call、取消或达到边界后形成唯一终态。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30AEBA-B12A-44E0-A61E-E7DF2FF9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3476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9368F0-D62E-4304-8FDE-EFF953A3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4758B7-4D97-4870-AA50-70CA82F0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81450"/>
            <a:ext cx="304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输入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471CD4-C64A-4455-AD77-C42F993AF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38625"/>
            <a:ext cx="3048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自然语言 · 证据 · 记忆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E433D0-E736-4691-9D89-C53F0FFA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857625"/>
            <a:ext cx="3476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A2BB7B-1AE4-4377-BCC3-30B4CF85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857625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05188C0-FA4F-44AD-80C7-37CFFCD3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981450"/>
            <a:ext cx="304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约束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DB0DFF-94A6-4AAE-8AB0-2ADB9711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238625"/>
            <a:ext cx="3048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binding · budget · cancel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E469C0-D835-41C3-A44E-54A0838D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57625"/>
            <a:ext cx="3943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E99490B-03F1-4891-A85E-4074F259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57625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FAE7BA0-171C-4116-8171-2E3FE459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81450"/>
            <a:ext cx="34766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输出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6E9C95B-A2C9-4182-B27F-AE0E93B3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38625"/>
            <a:ext cx="34766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结论 · 证据 · SafeError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D42F647-B7DF-4681-95F6-DA1430BD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5410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7B64D1F-CFA9-436E-943B-4F48E64F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14900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04 / 做成什么样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BF04B1-CF81-4762-ACB0-A5CAC26F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0"/>
            <a:ext cx="495300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每一步都有依据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193F909-9444-4117-8CCB-31EEDFF7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76875"/>
            <a:ext cx="495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每轮行动、能力结果、证据缺口和用户交互都可追溯。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B40AC84-F9B8-4560-BCBF-05C9D219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62500"/>
            <a:ext cx="5638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12B"/>
          </a:solidFill>
          <a:ln xmlns:a="http://schemas.openxmlformats.org/drawingml/2006/main" w="0">
            <a:solidFill>
              <a:srgbClr val="13212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3B9F64E-A05A-4368-B265-C0902AB1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14900"/>
            <a:ext cx="5143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76D4E6"/>
                </a:solidFill>
                <a:latin typeface="Microsoft YaHei"/>
                <a:ea typeface="Microsoft YaHei"/>
                <a:cs typeface="Microsoft YaHei"/>
              </a:defRPr>
            </a:pPr>
            <a:r>
              <a:t>05 / 到什么程度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F814155-86E5-4B1C-9192-42DF4F3A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43500"/>
            <a:ext cx="514350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收敛原因可核查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6B99F61-C6C0-4D55-86E5-1B7C7383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76875"/>
            <a:ext cx="5143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C7D2DC"/>
                </a:solidFill>
                <a:latin typeface="Microsoft YaHei"/>
                <a:ea typeface="Microsoft YaHei"/>
                <a:cs typeface="Microsoft YaHei"/>
              </a:defRPr>
            </a:pPr>
            <a:r>
              <a:t>无 Tool call、取消或达到边界都有明确终止语义。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DCF344D-6284-4CB9-B779-37D62F71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7A848F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依据：docs/agent-loop.html 的 Tool-Loop 快循环与 Agent routing 特性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0BEAC30-8F01-48C0-82DA-22EB24E3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57950"/>
            <a:ext cx="1790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A848F"/>
                </a:solidFill>
                <a:latin typeface="Microsoft YaHei"/>
                <a:ea typeface="Microsoft YaHei"/>
                <a:cs typeface="Microsoft YaHei"/>
              </a:defRPr>
            </a:pPr>
            <a:r>
              <a:t>08 / 28</a:t>
            </a:r>
          </a:p>
        </p:txBody>
      </p:sp>
    </p:spTree>
    <p:extLst>
      <p:ext uri="{BB962C8B-B14F-4D97-AF65-F5344CB8AC3E}">
        <p14:creationId xmlns:p14="http://schemas.microsoft.com/office/powerpoint/2010/main" val="5619868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4D06B725-B1E0-4B3A-9188-B1CC972E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04775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自学习：执行结果在下一次任务中产生增量</a:t>
            </a:r>
          </a:p>
        </p:txBody>
      </p:sp>
      <p:cxnSp>
        <p:nvCxnSpPr>
          <p:cNvPr id="197" name=""/>
          <p:cNvCxnSpPr/>
          <p:nvPr/>
        </p:nvCxnSpPr>
        <p:spPr>
          <a:xfrm xmlns:a="http://schemas.openxmlformats.org/drawingml/2006/main">
            <a:off x="457200" y="1457325"/>
            <a:ext cx="54102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0D7"/>
            </a:solidFill>
            <a:prstDash val="solid"/>
          </a:ln>
        </p:spPr>
      </p:cxnSp>
      <p:cxnSp>
        <p:nvCxnSpPr>
          <p:cNvPr id="198" name=""/>
          <p:cNvCxnSpPr/>
          <p:nvPr/>
        </p:nvCxnSpPr>
        <p:spPr>
          <a:xfrm xmlns:a="http://schemas.openxmlformats.org/drawingml/2006/main">
            <a:off x="6096000" y="1457325"/>
            <a:ext cx="56388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0D7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522E72-3CB6-4855-9E35-B0558EB8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33525"/>
            <a:ext cx="114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01 / 是什么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22FB8B-B816-4B86-BD34-AB9441C2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43075"/>
            <a:ext cx="5334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自学习是跨 session 的 Agent-Loop 慢循环，把已提交任务沉淀为长期记忆并在后续任务召回。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C9093D-336C-406D-BB22-80D6682D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33525"/>
            <a:ext cx="114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02 / 为什么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4AE9EA-F75F-49E4-B4D4-F6966F94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43075"/>
            <a:ext cx="552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单次 Agent Loop 只负责本次执行；学习必须在关键路径外运行，避免拖慢或改变已提交结果。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91E4D8-9CF2-4C70-BA2F-07091D04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85975"/>
            <a:ext cx="10668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03 / 怎么做：terminal commit → 轨迹投影 → 提取与强化 → turn-1 recall</a:t>
            </a:r>
          </a:p>
        </p:txBody>
      </p:sp>
      <p:cxnSp>
        <p:nvCxnSpPr>
          <p:cNvPr id="204" name=""/>
          <p:cNvCxnSpPr/>
          <p:nvPr/>
        </p:nvCxnSpPr>
        <p:spPr>
          <a:xfrm xmlns:a="http://schemas.openxmlformats.org/drawingml/2006/main">
            <a:off x="571500" y="2305050"/>
            <a:ext cx="106680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0D7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38995A-6209-4064-B193-87F94925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4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273A8D-9851-4F2C-8450-BA12494B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24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90BBC7-EECA-4EAC-8B5E-56FE875A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24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D53066-F849-4863-951F-AE5004C1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24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45DBB9-29EE-440E-B1EB-C61C2365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24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C544C1-5CDA-41E0-8AEB-CB0F245A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9555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01 / 结果提交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B7B651-FBF0-4313-8A8C-C4D8D04D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形成可信终态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B8261A-70AF-4EEA-939C-30D5B6E9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1857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各类终态先完成 terminal commit。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958531-3528-4CE3-AF63-73FBA7B3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49555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02 / 轨迹投影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D36A0C-8526-4354-8A38-7337F7ED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76225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生成学习输入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C63E43-5C8A-4AEC-A94E-B427541B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143250"/>
            <a:ext cx="1857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后台提取目标、动作、结果与证据等级，不阻塞请求。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9A7223-9804-462D-A4DC-274A4D46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9555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03 / 记忆提取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0C7F3B-B98C-40D3-8718-A4BB2004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6225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沉淀可复用经验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4414DA-BF19-4C8D-AA77-A73C459E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43250"/>
            <a:ext cx="1857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从近期轨迹提取事实、概念、流程和用户特征。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6C20E5-CD7B-4466-B8A2-8DF84FD4A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9555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04 / 融合维护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FDF2B5-C32D-4FE0-ABF2-277FDD48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6225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强化或遗忘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F0D079-BD2D-403A-A84A-08079C94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143250"/>
            <a:ext cx="1857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重复验证提升置信度；长期不用的记忆衰减、归档。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59D8C8-ACF0-4217-A3D4-74002BBA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49555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05 / 下次召回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5876A3-C8BF-4769-875D-C6FBF89C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6225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作为背景注入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C6DBF5-6797-4503-B289-F21AC14D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43250"/>
            <a:ext cx="1857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下一任务 turn-1 按范围和预算召回，不作为指令。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30AEBA-B12A-44E0-A61E-E7DF2FF9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3476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9368F0-D62E-4304-8FDE-EFF953A3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4758B7-4D97-4870-AA50-70CA82F0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81450"/>
            <a:ext cx="304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快循环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471CD4-C64A-4455-AD77-C42F993AF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38625"/>
            <a:ext cx="3048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单 request · Tool-Loop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E433D0-E736-4691-9D89-C53F0FFA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857625"/>
            <a:ext cx="3476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A2BB7B-1AE4-4377-BCC3-30B4CF85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857625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05188C0-FA4F-44AD-80C7-37CFFCD3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981450"/>
            <a:ext cx="304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慢循环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DB0DFF-94A6-4AAE-8AB0-2ADB9711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238625"/>
            <a:ext cx="3048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跨 session · Agent-Loop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E469C0-D835-41C3-A44E-54A0838D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57625"/>
            <a:ext cx="3943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E99490B-03F1-4891-A85E-4074F259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57625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FAE7BA0-171C-4116-8171-2E3FE459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81450"/>
            <a:ext cx="34766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耦合点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6E9C95B-A2C9-4182-B27F-AE0E93B3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38625"/>
            <a:ext cx="34766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terminal commit · recall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D42F647-B7DF-4681-95F6-DA1430BD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5410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7B64D1F-CFA9-436E-943B-4F48E64F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14900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04 / 做成什么样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BF04B1-CF81-4762-ACB0-A5CAC26F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0"/>
            <a:ext cx="495300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重复任务少走弯路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193F909-9444-4117-8CCB-31EEDFF7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76875"/>
            <a:ext cx="495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已验证事实、诊断流程和用户偏好可缩短下一次探索。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B40AC84-F9B8-4560-BCBF-05C9D219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62500"/>
            <a:ext cx="5638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12B"/>
          </a:solidFill>
          <a:ln xmlns:a="http://schemas.openxmlformats.org/drawingml/2006/main" w="0">
            <a:solidFill>
              <a:srgbClr val="13212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3B9F64E-A05A-4368-B265-C0902AB1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14900"/>
            <a:ext cx="5143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76D4E6"/>
                </a:solidFill>
                <a:latin typeface="Microsoft YaHei"/>
                <a:ea typeface="Microsoft YaHei"/>
                <a:cs typeface="Microsoft YaHei"/>
              </a:defRPr>
            </a:pPr>
            <a:r>
              <a:t>05 / 到什么程度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F814155-86E5-4B1C-9192-42DF4F3A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43500"/>
            <a:ext cx="514350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学习受治理且可退化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6B99F61-C6C0-4D55-86E5-1B7C7383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76875"/>
            <a:ext cx="5143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C7D2DC"/>
                </a:solidFill>
                <a:latin typeface="Microsoft YaHei"/>
                <a:ea typeface="Microsoft YaHei"/>
                <a:cs typeface="Microsoft YaHei"/>
              </a:defRPr>
            </a:pPr>
            <a:r>
              <a:t>默认配置可关闭；失败只产生诊断，不改变终态或阻塞交付。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DCF344D-6284-4CB9-B779-37D62F71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7A848F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依据：docs/agent-loop.html 的两层循环、四阶段学习闭环与长期记忆治理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0BEAC30-8F01-48C0-82DA-22EB24E3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57950"/>
            <a:ext cx="1790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A848F"/>
                </a:solidFill>
                <a:latin typeface="Microsoft YaHei"/>
                <a:ea typeface="Microsoft YaHei"/>
                <a:cs typeface="Microsoft YaHei"/>
              </a:defRPr>
            </a:pPr>
            <a:r>
              <a:t>09 / 28</a:t>
            </a:r>
          </a:p>
        </p:txBody>
      </p:sp>
    </p:spTree>
    <p:extLst>
      <p:ext uri="{BB962C8B-B14F-4D97-AF65-F5344CB8AC3E}">
        <p14:creationId xmlns:p14="http://schemas.microsoft.com/office/powerpoint/2010/main" val="5619868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8F3232A1-6312-4EB7-8667-58EC4107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68580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多入口、多宿主、多 Agent，共享同一任务真相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CDC239-4E90-4BC7-AD2D-1DB93DE7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762000"/>
            <a:ext cx="4191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外部接入和界面形态可以变化，但身份、生命周期、授权、审计和权威终态保持一致。</a:t>
            </a:r>
          </a:p>
        </p:txBody>
      </p:sp>
      <p:cxnSp>
        <p:nvCxnSpPr>
          <p:cNvPr id="371" name=""/>
          <p:cNvCxnSpPr/>
          <p:nvPr/>
        </p:nvCxnSpPr>
        <p:spPr>
          <a:xfrm xmlns:a="http://schemas.openxmlformats.org/drawingml/2006/main">
            <a:off x="457200" y="180975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0D7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882FC3-14BC-41DF-B1E0-DF240FE4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8097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7"/>
          </a:solidFill>
          <a:ln xmlns:a="http://schemas.openxmlformats.org/drawingml/2006/main" w="0">
            <a:solidFill>
              <a:srgbClr val="C9D0D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00DED6-7218-4B67-8123-B56C00C7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097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7"/>
          </a:solidFill>
          <a:ln xmlns:a="http://schemas.openxmlformats.org/drawingml/2006/main" w="0">
            <a:solidFill>
              <a:srgbClr val="C9D0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6E06B6-D193-4161-A4CE-D2A221EE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342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01 / 多入口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397811-370C-4363-BD8E-575F71A1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323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Channel 适配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081B70-76DE-4603-B6C2-BDD393E5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3238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Web · IM · ITSM · 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1C4422-1DD9-4355-A9C2-EAC5C57A3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90900"/>
            <a:ext cx="3333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“不同协议是否会产生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不同运行语义？”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701E7D-02F0-49AB-B0EF-FA328618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62450"/>
            <a:ext cx="33337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Channel 只负责可信身份、校验和协议投影，不复制 Runtime 生命周期。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1343BB-9F87-4F4F-A444-B60E8037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38350"/>
            <a:ext cx="3143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02 / 多宿主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1E3764-883D-4B35-B883-AD3D3D259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3143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统一工作区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BA288C-65DE-41E7-A565-0C52E82D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38450"/>
            <a:ext cx="3143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local · immersive · collaborative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A7985F-6743-46AB-86F9-E300C25F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90900"/>
            <a:ext cx="31432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“不同宿主是否共享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同一会话和历史？”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6FEA64-E083-477A-B430-C557793E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62450"/>
            <a:ext cx="3143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三种宿主复用相同 chat workspace、bootstrap 与后端 transport contract。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6A3EC5-CBAE-4331-9678-48A59A61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38350"/>
            <a:ext cx="3143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03 / 多 Agent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70120F-536A-4901-B0F4-5448EB2C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81250"/>
            <a:ext cx="323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受控协作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2A7264-515E-46A3-A3CD-AD9BC9E5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38450"/>
            <a:ext cx="3238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主 Agent · 专家子 Agent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36FE2F-676B-45E3-AB71-E8201EFF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90900"/>
            <a:ext cx="3238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“专家分工能否保持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范围隔离与审计？”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511B30-66AB-4F24-BDD2-D3777F47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62450"/>
            <a:ext cx="32385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子 Agent 在 fresh context 中独立分析，受 Agent Scope 和能力授权约束。</a:t>
            </a:r>
          </a:p>
        </p:txBody>
      </p:sp>
      <p:cxnSp>
        <p:nvCxnSpPr>
          <p:cNvPr id="389" name=""/>
          <p:cNvCxnSpPr/>
          <p:nvPr/>
        </p:nvCxnSpPr>
        <p:spPr>
          <a:xfrm xmlns:a="http://schemas.openxmlformats.org/drawingml/2006/main">
            <a:off x="457200" y="514350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0D7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B6E610-C77B-42E8-84DE-DFA7466E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共同结果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C4ADB9-8498-4346-BA8C-0176F18E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438775"/>
            <a:ext cx="3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A2F786-29AA-4D1A-8CCE-897B339E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429250"/>
            <a:ext cx="1809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可信身份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E805DC-6620-4233-8364-7B891518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438775"/>
            <a:ext cx="3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0C5EB0-B808-46FF-90CC-AA99C80A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5429250"/>
            <a:ext cx="1524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统一 Runtime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8EB523-B4A5-4A3F-9597-F3701A430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438775"/>
            <a:ext cx="3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66C3C1-766E-4A2D-B2D5-C682F05D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429250"/>
            <a:ext cx="1905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受治理 Capability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3CBD18-705F-494F-A51B-79F675EEA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438775"/>
            <a:ext cx="3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B5D4A6-5D92-40DA-B165-6C889636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429250"/>
            <a:ext cx="1905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同源 stream / history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B0860C-A4F0-48D4-82B5-0CB3C3D1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7A848F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依据：Channel、前端多宿主和多 Agent 协作特性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EA740B-CA1E-4C05-87D6-1A424698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838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A848F"/>
                </a:solidFill>
                <a:latin typeface="Microsoft YaHei"/>
                <a:ea typeface="Microsoft YaHei"/>
                <a:cs typeface="Microsoft YaHei"/>
              </a:defRPr>
            </a:pPr>
            <a:r>
              <a:t>10 / 28</a:t>
            </a:r>
          </a:p>
        </p:txBody>
      </p:sp>
    </p:spTree>
    <p:extLst>
      <p:ext uri="{BB962C8B-B14F-4D97-AF65-F5344CB8AC3E}">
        <p14:creationId xmlns:p14="http://schemas.microsoft.com/office/powerpoint/2010/main" val="20175029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29B3A3E-41EB-4FF8-8CAA-3AFD8BC8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95250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长上下文与长期记忆都可用，但不会无边界注入模型</a:t>
            </a:r>
          </a:p>
        </p:txBody>
      </p:sp>
      <p:cxnSp>
        <p:nvCxnSpPr>
          <p:cNvPr id="180" name=""/>
          <p:cNvCxnSpPr/>
          <p:nvPr/>
        </p:nvCxnSpPr>
        <p:spPr>
          <a:xfrm xmlns:a="http://schemas.openxmlformats.org/drawingml/2006/main">
            <a:off x="457200" y="1457325"/>
            <a:ext cx="54102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0D7"/>
            </a:solidFill>
            <a:prstDash val="solid"/>
          </a:ln>
        </p:spPr>
      </p:cxnSp>
      <p:cxnSp>
        <p:nvCxnSpPr>
          <p:cNvPr id="181" name=""/>
          <p:cNvCxnSpPr/>
          <p:nvPr/>
        </p:nvCxnSpPr>
        <p:spPr>
          <a:xfrm xmlns:a="http://schemas.openxmlformats.org/drawingml/2006/main">
            <a:off x="6096000" y="1457325"/>
            <a:ext cx="56388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0D7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BFF148-36FE-41D0-A0E9-F91C9A36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33525"/>
            <a:ext cx="114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01 / 是什么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6E4B95-121C-4727-94BD-AFA3824B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43075"/>
            <a:ext cx="5334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Context Engine 管理本次任务窗口；agent-memory 管理跨会话协作事实，两者职责分离。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622207-E02C-4D38-B745-03DA6BB5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33525"/>
            <a:ext cx="114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02 / 为什么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36BBC5-446B-4F5F-A361-B7EA3F1B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43075"/>
            <a:ext cx="552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避免长会话、大结果和历史记忆挤占当前请求，或把敏感内容无差别送入模型。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699335-4A28-43FB-8861-ADAD3888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10668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03 / 怎么做：按预算选择上下文，压缩早期历史，大内容转引用；长期记忆通过受治理工具显式检索</a:t>
            </a:r>
          </a:p>
        </p:txBody>
      </p:sp>
      <p:cxnSp>
        <p:nvCxnSpPr>
          <p:cNvPr id="187" name=""/>
          <p:cNvCxnSpPr/>
          <p:nvPr/>
        </p:nvCxnSpPr>
        <p:spPr>
          <a:xfrm xmlns:a="http://schemas.openxmlformats.org/drawingml/2006/main">
            <a:off x="571500" y="2476500"/>
            <a:ext cx="106680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0D7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735DCF-056A-469D-B888-E1FA4261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19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912A63-3C4D-4754-B071-F39D6C65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419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75E744-CE10-4112-97DF-D0C0F3FB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419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F69070-6BBF-4E00-8643-B0D9D897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419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4AE29D-0A6B-44A1-B4C9-ADB83851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86050"/>
            <a:ext cx="2190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01 / 上下文预算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D5AC04-3957-4471-A160-50ED4CF6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90850"/>
            <a:ext cx="2286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保护当前请求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EC23EE-3DB4-4AA7-8FF4-059B5A12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6625"/>
            <a:ext cx="22860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先保留当前输入、关键约束与 latest-request safe context。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D12B45-6715-43AB-AE7F-3BD532D8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686050"/>
            <a:ext cx="2190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02 / 长会话压缩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C3723C-2F6E-4127-ADEE-E93CB04F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90850"/>
            <a:ext cx="2286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保留证据关系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663140-7BC5-46C3-AB3C-7ADBD3252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76625"/>
            <a:ext cx="22860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旧结果微压缩，大内容转引用，早期历史摘要化。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758977-389C-492C-87EC-CF0FDAA4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686050"/>
            <a:ext cx="2190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03 / 显式记忆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ACF4AA-B695-4ABD-ADE1-CC22ADEC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90850"/>
            <a:ext cx="2286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按需搜索与引用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48E7A6-75C5-4B03-8ACD-5D14DC9C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476625"/>
            <a:ext cx="22860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偏好、结论和经验经确认后沉淀，不默认全量注入。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F6F5C9-AE46-4B3A-8F22-FBC2CCB3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190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04 / 双 Scope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F38D93-0B13-4EA8-A420-AFFCC2A6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90850"/>
            <a:ext cx="238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归属不可覆盖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CD8703-7E47-464C-AAA4-24CC5A47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76625"/>
            <a:ext cx="23812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上下文和记忆按 Agent + Owner 隔离，失败不阻塞终态。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478E78-40D8-4A3D-A696-EA18C0BC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70008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D82369-9716-4978-9F56-D930A2B8A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57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A5A569-A899-43A4-8226-780D5088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647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04 / 做成什么样：当前任务完整，历史信息有界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24C6FA-015C-40BC-9DAA-5A5D39EB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48300"/>
            <a:ext cx="6477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模型获得足够上下文，但不会被无限历史淹没。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7AB498-4C60-4C97-BD34-08885AB6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857750"/>
            <a:ext cx="39909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12B"/>
          </a:solidFill>
          <a:ln xmlns:a="http://schemas.openxmlformats.org/drawingml/2006/main" w="0">
            <a:solidFill>
              <a:srgbClr val="13212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EBFC20-4176-4B18-AF0E-228C7690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048250"/>
            <a:ext cx="3524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05 / 到什么程度：协作经验可复用且可治理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104BB0-F7E7-4039-959C-B69F1ED4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448300"/>
            <a:ext cx="3524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C7D2DC"/>
                </a:solidFill>
                <a:latin typeface="Microsoft YaHei"/>
                <a:ea typeface="Microsoft YaHei"/>
                <a:cs typeface="Microsoft YaHei"/>
              </a:defRPr>
            </a:pPr>
            <a:r>
              <a:t>用户知道记住了什么、排除了什么、如何检索和隔离。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D2F053-A78F-4E03-9693-A21FF643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7A848F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依据：模型与上下文、数据与记忆特性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5ED86A-4615-4B7C-8F2D-BF4330F5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57950"/>
            <a:ext cx="838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A848F"/>
                </a:solidFill>
                <a:latin typeface="Microsoft YaHei"/>
                <a:ea typeface="Microsoft YaHei"/>
                <a:cs typeface="Microsoft YaHei"/>
              </a:defRPr>
            </a:pPr>
            <a:r>
              <a:t>11 / 28</a:t>
            </a:r>
          </a:p>
        </p:txBody>
      </p:sp>
    </p:spTree>
    <p:extLst>
      <p:ext uri="{BB962C8B-B14F-4D97-AF65-F5344CB8AC3E}">
        <p14:creationId xmlns:p14="http://schemas.microsoft.com/office/powerpoint/2010/main" val="106461050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8B69CEAD-7DE2-41AF-A0E3-B3EC6A54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00012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从一次结果，能追到运行、能力、策略与恢复事实</a:t>
            </a:r>
          </a:p>
        </p:txBody>
      </p:sp>
      <p:cxnSp>
        <p:nvCxnSpPr>
          <p:cNvPr id="209" name=""/>
          <p:cNvCxnSpPr/>
          <p:nvPr/>
        </p:nvCxnSpPr>
        <p:spPr>
          <a:xfrm xmlns:a="http://schemas.openxmlformats.org/drawingml/2006/main">
            <a:off x="457200" y="1457325"/>
            <a:ext cx="54102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0D7"/>
            </a:solidFill>
            <a:prstDash val="solid"/>
          </a:ln>
        </p:spPr>
      </p:cxnSp>
      <p:cxnSp>
        <p:nvCxnSpPr>
          <p:cNvPr id="210" name=""/>
          <p:cNvCxnSpPr/>
          <p:nvPr/>
        </p:nvCxnSpPr>
        <p:spPr>
          <a:xfrm xmlns:a="http://schemas.openxmlformats.org/drawingml/2006/main">
            <a:off x="6096000" y="1457325"/>
            <a:ext cx="56388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0D7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B6C208-C1E8-480A-94F2-5130E8C8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33525"/>
            <a:ext cx="114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01 / 是什么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99F6C8-DD16-4FD8-AD37-3A1737BF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43075"/>
            <a:ext cx="5334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将真实运行情况投影为可检索、可关联、可衡量的诊断信息。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61291F-FADC-4238-9DCC-C5638989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33525"/>
            <a:ext cx="114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02 / 为什么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B2D63C-4480-402B-8A42-93E85249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43075"/>
            <a:ext cx="552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出现异常时先定位失败阶段、责任边界和影响范围，再决定重试、恢复或人工介入。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D69787-09F1-49D0-8443-A1B15807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85975"/>
            <a:ext cx="10668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03 / 怎么做：以 request / run 为共同坐标，统一关联日志、指标、审计、调用轨迹和健康事实</a:t>
            </a:r>
          </a:p>
        </p:txBody>
      </p:sp>
      <p:cxnSp>
        <p:nvCxnSpPr>
          <p:cNvPr id="216" name=""/>
          <p:cNvCxnSpPr/>
          <p:nvPr/>
        </p:nvCxnSpPr>
        <p:spPr>
          <a:xfrm xmlns:a="http://schemas.openxmlformats.org/drawingml/2006/main">
            <a:off x="2838450" y="3390900"/>
            <a:ext cx="2667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87A7"/>
            </a:solidFill>
            <a:prstDash val="solid"/>
          </a:ln>
        </p:spPr>
      </p:cxnSp>
      <p:cxnSp>
        <p:nvCxnSpPr>
          <p:cNvPr id="217" name=""/>
          <p:cNvCxnSpPr/>
          <p:nvPr/>
        </p:nvCxnSpPr>
        <p:spPr>
          <a:xfrm xmlns:a="http://schemas.openxmlformats.org/drawingml/2006/main">
            <a:off x="8610600" y="3390900"/>
            <a:ext cx="2667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87A7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CDB363-DA51-4C20-8BF0-F90AECD1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2200"/>
            <a:ext cx="2381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12B"/>
          </a:solidFill>
          <a:ln xmlns:a="http://schemas.openxmlformats.org/drawingml/2006/main" w="0">
            <a:solidFill>
              <a:srgbClr val="13212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969C7D-B63C-49D1-A4AE-66EF1765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52700"/>
            <a:ext cx="190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76D4E6"/>
                </a:solidFill>
                <a:latin typeface="Microsoft YaHei"/>
                <a:ea typeface="Microsoft YaHei"/>
                <a:cs typeface="Microsoft YaHei"/>
              </a:defRPr>
            </a:pPr>
            <a:r>
              <a:t>运行事实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041344-921D-45A1-A24F-635B2A24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38450"/>
            <a:ext cx="1952625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记录真实主路径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2CF024-F9CD-4D48-8894-4CE0ECA93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95650"/>
            <a:ext cx="195262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C7D0D8"/>
                </a:solidFill>
                <a:latin typeface="Microsoft YaHei"/>
                <a:ea typeface="Microsoft YaHei"/>
                <a:cs typeface="Microsoft YaHei"/>
              </a:defRPr>
            </a:pPr>
            <a:r>
              <a:t>受理、模型、能力、等待输入、降级、终态、恢复与依赖健康。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175868-C7D6-4A60-89AD-7998FCD9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362200"/>
            <a:ext cx="25622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BE2E06-D6C6-454D-A3C6-97AEB275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362200"/>
            <a:ext cx="38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91EAB1-1F54-4DE1-9C25-21EEE404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53365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运行日志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616D50-9232-4534-881F-4E44A38BF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857500"/>
            <a:ext cx="21431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说明发生了什么、结果如何和安全原因。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49DADA-A38E-4A7D-8BDD-E0ADF8A7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362200"/>
            <a:ext cx="28289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71935C-8A54-4DC7-B1BA-A87245C6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362200"/>
            <a:ext cx="38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4DCDFF-62A3-40B7-BAA2-84B1C86F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533650"/>
            <a:ext cx="2381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指标与趋势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F7AA95-EFCC-4B4E-8668-D4ED9CD6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857500"/>
            <a:ext cx="238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反映数量、耗时、错误、容量和退化。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371063-7F9C-4E42-B4A7-F0231939F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467100"/>
            <a:ext cx="25622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600256-4381-4F85-BCCE-2C660707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467100"/>
            <a:ext cx="38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274C64-69E3-4867-9603-3AFB51F8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3855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审计与轨迹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A13183-88A9-4209-8114-F16D2122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62400"/>
            <a:ext cx="21431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串联授权、策略、能力、人工输入与终态。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CC5E1A-26A8-45E6-A431-1A8D58A4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467100"/>
            <a:ext cx="28289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FA5A01-6D39-490D-9ECD-B7073FFC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467100"/>
            <a:ext cx="38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0BFBEC-846E-4ECB-8DBD-CE04C74D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638550"/>
            <a:ext cx="2381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健康检查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802C0F-792C-4BDF-841A-EE3F35F3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962400"/>
            <a:ext cx="238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判断依赖状态、退化位置与恢复结果。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7354EF-4D22-450C-B26B-80CD29C4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62200"/>
            <a:ext cx="2857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0F5"/>
          </a:solidFill>
          <a:ln xmlns:a="http://schemas.openxmlformats.org/drawingml/2006/main" w="0">
            <a:solidFill>
              <a:srgbClr val="D9F0F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8C3D66-7817-4375-A308-62F78457C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6220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213806-72E5-4A02-B87B-1247F89A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52700"/>
            <a:ext cx="2381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诊断视图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18B078-63FE-49A0-8132-119B74C1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38450"/>
            <a:ext cx="2381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单次问题可还原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整体健康可判断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BE6A09A-4BAF-49A5-B0E5-8C71693A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638550"/>
            <a:ext cx="2381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公共观测面只使用安全事实；敏感内容留在受控诊断边界。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A8E12BD-1DAB-4DD2-BFBB-8A8BED36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05350"/>
            <a:ext cx="5410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A49D8C3-4959-47EC-B2A1-F1DD9D50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053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A1FEB7D-B1C8-4B23-B399-E1504821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0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04 / 做成什么样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AD01F48-28B8-473F-B0FC-6CB86E95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86350"/>
            <a:ext cx="495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过程可定位，风险可追溯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06C4CDF-EADC-4A2F-AAD0-ED5C9A91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495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同一运行可贯通查询，快速识别失败和慢点。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1F855BF-BD6C-4CED-ABD7-567E3F5F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05350"/>
            <a:ext cx="56388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12B"/>
          </a:solidFill>
          <a:ln xmlns:a="http://schemas.openxmlformats.org/drawingml/2006/main" w="0">
            <a:solidFill>
              <a:srgbClr val="13212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2F89112-E589-4ED9-94F2-EE12B5CD4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053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B4A0797-E05F-493C-AD31-49B8EC66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57750"/>
            <a:ext cx="5143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76D4E6"/>
                </a:solidFill>
                <a:latin typeface="Microsoft YaHei"/>
                <a:ea typeface="Microsoft YaHei"/>
                <a:cs typeface="Microsoft YaHei"/>
              </a:defRPr>
            </a:pPr>
            <a:r>
              <a:t>05 / 到什么程度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F9CD55A-C761-4ED0-9331-7DC19785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86350"/>
            <a:ext cx="5143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观测失败不改变业务结果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3ED37C7-E51E-43B4-9701-0DC87EDD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29250"/>
            <a:ext cx="5143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C7D2DC"/>
                </a:solidFill>
                <a:latin typeface="Microsoft YaHei"/>
                <a:ea typeface="Microsoft YaHei"/>
                <a:cs typeface="Microsoft YaHei"/>
              </a:defRPr>
            </a:pPr>
            <a:r>
              <a:t>sink 或 projector 退化不得阻断 terminal commit。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20CD829-7620-472C-9FDB-E7FE34D9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7A848F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依据：结构化日志、审计、OTel、健康检查与执行轨迹特性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95D38DA-63F8-44C2-A0BD-A0A56621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57950"/>
            <a:ext cx="1790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A848F"/>
                </a:solidFill>
                <a:latin typeface="Microsoft YaHei"/>
                <a:ea typeface="Microsoft YaHei"/>
                <a:cs typeface="Microsoft YaHei"/>
              </a:defRPr>
            </a:pPr>
            <a:r>
              <a:t>12 / 28</a:t>
            </a:r>
          </a:p>
        </p:txBody>
      </p:sp>
    </p:spTree>
    <p:extLst>
      <p:ext uri="{BB962C8B-B14F-4D97-AF65-F5344CB8AC3E}">
        <p14:creationId xmlns:p14="http://schemas.microsoft.com/office/powerpoint/2010/main" val="54652351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4D06B725-B1E0-4B3A-9188-B1CC972E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04775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能力被发现不等于获得权限，执行前还要经过治理边界</a:t>
            </a:r>
          </a:p>
        </p:txBody>
      </p:sp>
      <p:cxnSp>
        <p:nvCxnSpPr>
          <p:cNvPr id="197" name=""/>
          <p:cNvCxnSpPr/>
          <p:nvPr/>
        </p:nvCxnSpPr>
        <p:spPr>
          <a:xfrm xmlns:a="http://schemas.openxmlformats.org/drawingml/2006/main">
            <a:off x="457200" y="1457325"/>
            <a:ext cx="54102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0D7"/>
            </a:solidFill>
            <a:prstDash val="solid"/>
          </a:ln>
        </p:spPr>
      </p:cxnSp>
      <p:cxnSp>
        <p:nvCxnSpPr>
          <p:cNvPr id="198" name=""/>
          <p:cNvCxnSpPr/>
          <p:nvPr/>
        </p:nvCxnSpPr>
        <p:spPr>
          <a:xfrm xmlns:a="http://schemas.openxmlformats.org/drawingml/2006/main">
            <a:off x="6096000" y="1457325"/>
            <a:ext cx="56388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0D7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522E72-3CB6-4855-9E35-B0558EB8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33525"/>
            <a:ext cx="114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01 / 是什么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22FB8B-B816-4B86-BD34-AB9441C2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43075"/>
            <a:ext cx="5334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Tool、Skill、Agent、Recipe 统一进入 Capability Catalog，但只有当前 Agent 授权的能力可用。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C9093D-336C-406D-BB22-80D6682D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33525"/>
            <a:ext cx="114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02 / 为什么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4AE9EA-F75F-49E4-B4D4-F6966F94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43075"/>
            <a:ext cx="552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能力规模增长时仍保持最小权限，避免模型因为“看见”能力就获得执行权。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91E4D8-9CF2-4C70-BA2F-07091D04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85975"/>
            <a:ext cx="10668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03 / 怎么做：从目录治理、Agent 绑定、风险策略到 sandbox 和安全结果，层层收敛可执行范围</a:t>
            </a:r>
          </a:p>
        </p:txBody>
      </p:sp>
      <p:cxnSp>
        <p:nvCxnSpPr>
          <p:cNvPr id="204" name=""/>
          <p:cNvCxnSpPr/>
          <p:nvPr/>
        </p:nvCxnSpPr>
        <p:spPr>
          <a:xfrm xmlns:a="http://schemas.openxmlformats.org/drawingml/2006/main">
            <a:off x="571500" y="2305050"/>
            <a:ext cx="106680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0D7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38995A-6209-4064-B193-87F94925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4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273A8D-9851-4F2C-8450-BA12494B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24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90BBC7-EECA-4EAC-8B5E-56FE875A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24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D53066-F849-4863-951F-AE5004C1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24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45DBB9-29EE-440E-B1EB-C61C2365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24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C544C1-5CDA-41E0-8AEB-CB0F245A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9555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01 / 能力发现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B7B651-FBF0-4313-8A8C-C4D8D04D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已登记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B8261A-70AF-4EEA-939C-30D5B6E9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1857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统一描述、冲突治理与可用性判断。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958531-3528-4CE3-AF63-73FBA7B3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49555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02 / Agent 绑定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D36A0C-8526-4354-8A38-7337F7ED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76225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可见范围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C63E43-5C8A-4AEC-A94E-B427541B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143250"/>
            <a:ext cx="1857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只有 enabled binding 进入当前请求。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9A7223-9804-462D-A4DC-274A4D46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9555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03 / 策略评估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0C7F3B-B98C-40D3-8718-A4BB2004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6225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风险判断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4414DA-BF19-4C8D-AA77-A73C459E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43250"/>
            <a:ext cx="1857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允许、拒绝、降级或要求授权。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6C20E5-CD7B-4466-B8A2-8DF84FD4A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9555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04 / 受控执行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FDF2B5-C32D-4FE0-ABF2-277FDD48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6225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安全边界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F0D079-BD2D-403A-A84A-08079C94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143250"/>
            <a:ext cx="1857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动态命令必须走 sandbox gateway。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59D8C8-ACF0-4217-A3D4-74002BBA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49555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05 / 结果交付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5876A3-C8BF-4769-875D-C6FBF89C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6225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安全投影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C6DBF5-6797-4503-B289-F21AC14D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43250"/>
            <a:ext cx="1857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Schema 校验并返回安全结果或原因。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30AEBA-B12A-44E0-A61E-E7DF2FF9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3476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9368F0-D62E-4304-8FDE-EFF953A3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4758B7-4D97-4870-AA50-70CA82F0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81450"/>
            <a:ext cx="304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能力类型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471CD4-C64A-4455-AD77-C42F993AF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38625"/>
            <a:ext cx="3048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Tool · Skill · Agent · Recipe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E433D0-E736-4691-9D89-C53F0FFA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857625"/>
            <a:ext cx="3476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A2BB7B-1AE4-4377-BCC3-30B4CF85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857625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05188C0-FA4F-44AD-80C7-37CFFCD3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981450"/>
            <a:ext cx="304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人工边界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DB0DFF-94A6-4AAE-8AB0-2ADB9711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238625"/>
            <a:ext cx="3048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确认 · 授权 · handoff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E469C0-D835-41C3-A44E-54A0838D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57625"/>
            <a:ext cx="3943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E99490B-03F1-4891-A85E-4074F259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57625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FAE7BA0-171C-4116-8171-2E3FE459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81450"/>
            <a:ext cx="34766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禁止事项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6E9C95B-A2C9-4182-B27F-AE0E93B3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38625"/>
            <a:ext cx="34766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请求体、模型输出不得改写 Scope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D42F647-B7DF-4681-95F6-DA1430BD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5410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7B64D1F-CFA9-436E-943B-4F48E64F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14900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04 / 做成什么样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BF04B1-CF81-4762-ACB0-A5CAC26F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0"/>
            <a:ext cx="495300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能力丰富但权限清晰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193F909-9444-4117-8CCB-31EEDFF7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76875"/>
            <a:ext cx="495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系统不会“发现即授权”，每次执行重新经过治理。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B40AC84-F9B8-4560-BCBF-05C9D219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62500"/>
            <a:ext cx="5638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12B"/>
          </a:solidFill>
          <a:ln xmlns:a="http://schemas.openxmlformats.org/drawingml/2006/main" w="0">
            <a:solidFill>
              <a:srgbClr val="13212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3B9F64E-A05A-4368-B265-C0902AB1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14900"/>
            <a:ext cx="5143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76D4E6"/>
                </a:solidFill>
                <a:latin typeface="Microsoft YaHei"/>
                <a:ea typeface="Microsoft YaHei"/>
                <a:cs typeface="Microsoft YaHei"/>
              </a:defRPr>
            </a:pPr>
            <a:r>
              <a:t>05 / 到什么程度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F814155-86E5-4B1C-9192-42DF4F3A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43500"/>
            <a:ext cx="514350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越权路径可验证地失败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6B99F61-C6C0-4D55-86E5-1B7C7383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76875"/>
            <a:ext cx="5143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C7D2DC"/>
                </a:solidFill>
                <a:latin typeface="Microsoft YaHei"/>
                <a:ea typeface="Microsoft YaHei"/>
                <a:cs typeface="Microsoft YaHei"/>
              </a:defRPr>
            </a:pPr>
            <a:r>
              <a:t>未绑定能力不可见，危险动作无法绕过策略和 sandbox。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DCF344D-6284-4CB9-B779-37D62F71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7A848F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依据：Capability 体系、安全与治理特性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0BEAC30-8F01-48C0-82DA-22EB24E3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57950"/>
            <a:ext cx="1790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A848F"/>
                </a:solidFill>
                <a:latin typeface="Microsoft YaHei"/>
                <a:ea typeface="Microsoft YaHei"/>
                <a:cs typeface="Microsoft YaHei"/>
              </a:defRPr>
            </a:pPr>
            <a:r>
              <a:t>13 / 28</a:t>
            </a:r>
          </a:p>
        </p:txBody>
      </p:sp>
    </p:spTree>
    <p:extLst>
      <p:ext uri="{BB962C8B-B14F-4D97-AF65-F5344CB8AC3E}">
        <p14:creationId xmlns:p14="http://schemas.microsoft.com/office/powerpoint/2010/main" val="56198682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29B3A3E-41EB-4FF8-8CAA-3AFD8BC8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95250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高影响节点停下来：补充、确认、授权或接管</a:t>
            </a:r>
          </a:p>
        </p:txBody>
      </p:sp>
      <p:cxnSp>
        <p:nvCxnSpPr>
          <p:cNvPr id="180" name=""/>
          <p:cNvCxnSpPr/>
          <p:nvPr/>
        </p:nvCxnSpPr>
        <p:spPr>
          <a:xfrm xmlns:a="http://schemas.openxmlformats.org/drawingml/2006/main">
            <a:off x="457200" y="1457325"/>
            <a:ext cx="54102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0D7"/>
            </a:solidFill>
            <a:prstDash val="solid"/>
          </a:ln>
        </p:spPr>
      </p:cxnSp>
      <p:cxnSp>
        <p:nvCxnSpPr>
          <p:cNvPr id="181" name=""/>
          <p:cNvCxnSpPr/>
          <p:nvPr/>
        </p:nvCxnSpPr>
        <p:spPr>
          <a:xfrm xmlns:a="http://schemas.openxmlformats.org/drawingml/2006/main">
            <a:off x="6096000" y="1457325"/>
            <a:ext cx="56388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0D7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BFF148-36FE-41D0-A0E9-F91C9A36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33525"/>
            <a:ext cx="114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01 / 是什么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6E4B95-121C-4727-94BD-AFA3824B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43075"/>
            <a:ext cx="5334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人工输入是一等运行状态，不是前端临时弹窗。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622207-E02C-4D38-B745-03DA6BB5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33525"/>
            <a:ext cx="114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02 / 为什么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36BBC5-446B-4F5F-A361-B7EA3F1B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43075"/>
            <a:ext cx="552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把关键决策权留给人，同时避免信息不足或未授权动作被静默执行。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699335-4A28-43FB-8861-ADAD3888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10668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03 / 怎么做：QUESTION、CONFIRMATION、AUTHORIZATION 与 HANDOFF 共享 pending input 生命周期</a:t>
            </a:r>
          </a:p>
        </p:txBody>
      </p:sp>
      <p:cxnSp>
        <p:nvCxnSpPr>
          <p:cNvPr id="187" name=""/>
          <p:cNvCxnSpPr/>
          <p:nvPr/>
        </p:nvCxnSpPr>
        <p:spPr>
          <a:xfrm xmlns:a="http://schemas.openxmlformats.org/drawingml/2006/main">
            <a:off x="571500" y="2476500"/>
            <a:ext cx="106680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0D7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735DCF-056A-469D-B888-E1FA4261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19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912A63-3C4D-4754-B071-F39D6C65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419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75E744-CE10-4112-97DF-D0C0F3FB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419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F69070-6BBF-4E00-8643-B0D9D897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419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4AE29D-0A6B-44A1-B4C9-ADB83851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86050"/>
            <a:ext cx="2190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01 / 补充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D5AC04-3957-4471-A160-50ED4CF6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90850"/>
            <a:ext cx="2286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信息不足时提问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EC23EE-3DB4-4AA7-8FF4-059B5A12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6625"/>
            <a:ext cx="22860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用户补齐设备、范围、证据或期望输出。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D12B45-6715-43AB-AE7F-3BD532D8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686050"/>
            <a:ext cx="2190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02 / 确认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C3723C-2F6E-4127-ADEE-E93CB04F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90850"/>
            <a:ext cx="2286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高影响动作前确认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663140-7BC5-46C3-AB3C-7ADBD3252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76625"/>
            <a:ext cx="22860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展示影响范围和安全摘要，确认后回到同一 run。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758977-389C-492C-87EC-CF0FDAA4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686050"/>
            <a:ext cx="2190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03 / 授权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ACF4AA-B695-4ABD-ADE1-CC22ADEC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90850"/>
            <a:ext cx="2286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一次受限操作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48E7A6-75C5-4B03-8ACD-5D14DC9C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476625"/>
            <a:ext cx="22860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授权绑定当前 run 内具体操作，不扩大长期权限。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F6F5C9-AE46-4B3A-8F22-FBC2CCB3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190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04 / 接管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F38D93-0B13-4EA8-A420-AFFCC2A6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90850"/>
            <a:ext cx="238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转人工处理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CD8703-7E47-464C-AAA4-24CC5A47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76625"/>
            <a:ext cx="23812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可终结自动化，也可在受控条件下恢复。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478E78-40D8-4A3D-A696-EA18C0BC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70008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D82369-9716-4978-9F56-D930A2B8A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57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A5A569-A899-43A4-8226-780D5088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647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04 / 做成什么样：用户知道为何停、需要做什么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24C6FA-015C-40BC-9DAA-5A5D39EB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48300"/>
            <a:ext cx="6477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待处理事项和影响范围清晰呈现。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7AB498-4C60-4C97-BD34-08885AB6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857750"/>
            <a:ext cx="39909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12B"/>
          </a:solidFill>
          <a:ln xmlns:a="http://schemas.openxmlformats.org/drawingml/2006/main" w="0">
            <a:solidFill>
              <a:srgbClr val="13212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EBFC20-4176-4B18-AF0E-228C7690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048250"/>
            <a:ext cx="3524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05 / 到什么程度：未满足条件不会越过关口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104BB0-F7E7-4039-959C-B69F1ED4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448300"/>
            <a:ext cx="3524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C7D2DC"/>
                </a:solidFill>
                <a:latin typeface="Microsoft YaHei"/>
                <a:ea typeface="Microsoft YaHei"/>
                <a:cs typeface="Microsoft YaHei"/>
              </a:defRPr>
            </a:pPr>
            <a:r>
              <a:t>超时、拒绝和取消形成权威状态与安全原因。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D2F053-A78F-4E03-9693-A21FF643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7A848F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依据：pending input、确认、授权与 human handoff 特性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5ED86A-4615-4B7C-8F2D-BF4330F5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57950"/>
            <a:ext cx="838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A848F"/>
                </a:solidFill>
                <a:latin typeface="Microsoft YaHei"/>
                <a:ea typeface="Microsoft YaHei"/>
                <a:cs typeface="Microsoft YaHei"/>
              </a:defRPr>
            </a:pPr>
            <a:r>
              <a:t>14 / 28</a:t>
            </a:r>
          </a:p>
        </p:txBody>
      </p:sp>
    </p:spTree>
    <p:extLst>
      <p:ext uri="{BB962C8B-B14F-4D97-AF65-F5344CB8AC3E}">
        <p14:creationId xmlns:p14="http://schemas.microsoft.com/office/powerpoint/2010/main" val="106461050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4D06B725-B1E0-4B3A-9188-B1CC972E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04775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停止、编辑、重试与恢复都保留历史，也避免重复副作用</a:t>
            </a:r>
          </a:p>
        </p:txBody>
      </p:sp>
      <p:cxnSp>
        <p:nvCxnSpPr>
          <p:cNvPr id="197" name=""/>
          <p:cNvCxnSpPr/>
          <p:nvPr/>
        </p:nvCxnSpPr>
        <p:spPr>
          <a:xfrm xmlns:a="http://schemas.openxmlformats.org/drawingml/2006/main">
            <a:off x="457200" y="1457325"/>
            <a:ext cx="54102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0D7"/>
            </a:solidFill>
            <a:prstDash val="solid"/>
          </a:ln>
        </p:spPr>
      </p:cxnSp>
      <p:cxnSp>
        <p:nvCxnSpPr>
          <p:cNvPr id="198" name=""/>
          <p:cNvCxnSpPr/>
          <p:nvPr/>
        </p:nvCxnSpPr>
        <p:spPr>
          <a:xfrm xmlns:a="http://schemas.openxmlformats.org/drawingml/2006/main">
            <a:off x="6096000" y="1457325"/>
            <a:ext cx="56388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0D7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522E72-3CB6-4855-9E35-B0558EB8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33525"/>
            <a:ext cx="114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01 / 是什么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22FB8B-B816-4B86-BD34-AB9441C2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43075"/>
            <a:ext cx="5334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任务控制动作拥有清晰、可追溯的运行语义。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C9093D-336C-406D-BB22-80D6682D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33525"/>
            <a:ext cx="114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02 / 为什么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4AE9EA-F75F-49E4-B4D4-F6966F94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43075"/>
            <a:ext cx="552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用户不必在状态不明时重复提交，也不会因为重做而覆盖旧事实。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91E4D8-9CF2-4C70-BA2F-07091D04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85975"/>
            <a:ext cx="10668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03 / 怎么做：每次控制动作生成或推进明确的 run / attempt，并继续遵循幂等、策略和终态规则</a:t>
            </a:r>
          </a:p>
        </p:txBody>
      </p:sp>
      <p:cxnSp>
        <p:nvCxnSpPr>
          <p:cNvPr id="204" name=""/>
          <p:cNvCxnSpPr/>
          <p:nvPr/>
        </p:nvCxnSpPr>
        <p:spPr>
          <a:xfrm xmlns:a="http://schemas.openxmlformats.org/drawingml/2006/main">
            <a:off x="571500" y="2305050"/>
            <a:ext cx="106680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0D7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38995A-6209-4064-B193-87F94925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4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273A8D-9851-4F2C-8450-BA12494B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24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90BBC7-EECA-4EAC-8B5E-56FE875A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24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D53066-F849-4863-951F-AE5004C1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24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45DBB9-29EE-440E-B1EB-C61C2365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24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C544C1-5CDA-41E0-8AEB-CB0F245A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9555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01 / 停止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B7B651-FBF0-4313-8A8C-C4D8D04D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已取消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B8261A-70AF-4EEA-939C-30D5B6E9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1857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终止当前执行，保留会话、证据和历史。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958531-3528-4CE3-AF63-73FBA7B3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49555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02 / 编辑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D36A0C-8526-4354-8A38-7337F7ED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76225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新尝试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C63E43-5C8A-4AEC-A94E-B427541B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143250"/>
            <a:ext cx="1857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基于旧消息提交后续输入，旧事实不改写。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9A7223-9804-462D-A4DC-274A4D46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9555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03 / 重试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0C7F3B-B98C-40D3-8718-A4BB2004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6225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新 run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4414DA-BF19-4C8D-AA77-A73C459E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43250"/>
            <a:ext cx="1857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复用任务语义，非幂等动作继续受保护。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6C20E5-CD7B-4466-B8A2-8DF84FD4A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9555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04 / 断线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FDF2B5-C32D-4FE0-ABF2-277FDD48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6225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可重放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F0D079-BD2D-403A-A84A-08079C94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143250"/>
            <a:ext cx="1857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按 sequence 续传；必要时重建历史。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59D8C8-ACF0-4217-A3D4-74002BBA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49555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05 / 重启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5876A3-C8BF-4769-875D-C6FBF89C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6225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可恢复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C6DBF5-6797-4503-B289-F21AC14D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43250"/>
            <a:ext cx="1857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结合 checkpoint 与持久化事实判断后续动作。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30AEBA-B12A-44E0-A61E-E7DF2FF9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3476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9368F0-D62E-4304-8FDE-EFF953A3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4758B7-4D97-4870-AA50-70CA82F0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81450"/>
            <a:ext cx="304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幂等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471CD4-C64A-4455-AD77-C42F993AF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38625"/>
            <a:ext cx="3048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重复 key 返回首次锚点事实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E433D0-E736-4691-9D89-C53F0FFA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857625"/>
            <a:ext cx="3476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A2BB7B-1AE4-4377-BCC3-30B4CF85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857625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05188C0-FA4F-44AD-80C7-37CFFCD3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981450"/>
            <a:ext cx="304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并发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DB0DFF-94A6-4AAE-8AB0-2ADB9711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238625"/>
            <a:ext cx="3048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同 session 单 active run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E469C0-D835-41C3-A44E-54A0838D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57625"/>
            <a:ext cx="3943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E99490B-03F1-4891-A85E-4074F259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57625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FAE7BA0-171C-4116-8171-2E3FE459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81450"/>
            <a:ext cx="34766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终态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6E9C95B-A2C9-4182-B27F-AE0E93B3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38625"/>
            <a:ext cx="34766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completed / failed / canceled 唯一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D42F647-B7DF-4681-95F6-DA1430BD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5410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7B64D1F-CFA9-436E-943B-4F48E64F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14900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04 / 做成什么样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BF04B1-CF81-4762-ACB0-A5CAC26F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0"/>
            <a:ext cx="495300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可控制、可重做、可复盘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193F909-9444-4117-8CCB-31EEDFF7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76875"/>
            <a:ext cx="495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每次尝试都有独立坐标，历史和原因可追溯。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B40AC84-F9B8-4560-BCBF-05C9D219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62500"/>
            <a:ext cx="5638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12B"/>
          </a:solidFill>
          <a:ln xmlns:a="http://schemas.openxmlformats.org/drawingml/2006/main" w="0">
            <a:solidFill>
              <a:srgbClr val="13212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3B9F64E-A05A-4368-B265-C0902AB1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14900"/>
            <a:ext cx="5143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76D4E6"/>
                </a:solidFill>
                <a:latin typeface="Microsoft YaHei"/>
                <a:ea typeface="Microsoft YaHei"/>
                <a:cs typeface="Microsoft YaHei"/>
              </a:defRPr>
            </a:pPr>
            <a:r>
              <a:t>05 / 到什么程度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F814155-86E5-4B1C-9192-42DF4F3A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43500"/>
            <a:ext cx="514350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异常后状态仍可信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6B99F61-C6C0-4D55-86E5-1B7C7383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76875"/>
            <a:ext cx="5143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C7D2DC"/>
                </a:solidFill>
                <a:latin typeface="Microsoft YaHei"/>
                <a:ea typeface="Microsoft YaHei"/>
                <a:cs typeface="Microsoft YaHei"/>
              </a:defRPr>
            </a:pPr>
            <a:r>
              <a:t>无法安全恢复时显式失败，不伪造继续执行。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DCF344D-6284-4CB9-B779-37D62F71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7A848F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依据：取消、重试、会话派生、重放与恢复特性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0BEAC30-8F01-48C0-82DA-22EB24E3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57950"/>
            <a:ext cx="1790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A848F"/>
                </a:solidFill>
                <a:latin typeface="Microsoft YaHei"/>
                <a:ea typeface="Microsoft YaHei"/>
                <a:cs typeface="Microsoft YaHei"/>
              </a:defRPr>
            </a:pPr>
            <a:r>
              <a:t>15 / 28</a:t>
            </a:r>
          </a:p>
        </p:txBody>
      </p:sp>
    </p:spTree>
    <p:extLst>
      <p:ext uri="{BB962C8B-B14F-4D97-AF65-F5344CB8AC3E}">
        <p14:creationId xmlns:p14="http://schemas.microsoft.com/office/powerpoint/2010/main" val="56198682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29B3A3E-41EB-4FF8-8CAA-3AFD8BC8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95250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长期记忆沉淀协作事实，而不是复制整段聊天历史</a:t>
            </a:r>
          </a:p>
        </p:txBody>
      </p:sp>
      <p:cxnSp>
        <p:nvCxnSpPr>
          <p:cNvPr id="180" name=""/>
          <p:cNvCxnSpPr/>
          <p:nvPr/>
        </p:nvCxnSpPr>
        <p:spPr>
          <a:xfrm xmlns:a="http://schemas.openxmlformats.org/drawingml/2006/main">
            <a:off x="457200" y="1457325"/>
            <a:ext cx="54102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0D7"/>
            </a:solidFill>
            <a:prstDash val="solid"/>
          </a:ln>
        </p:spPr>
      </p:cxnSp>
      <p:cxnSp>
        <p:nvCxnSpPr>
          <p:cNvPr id="181" name=""/>
          <p:cNvCxnSpPr/>
          <p:nvPr/>
        </p:nvCxnSpPr>
        <p:spPr>
          <a:xfrm xmlns:a="http://schemas.openxmlformats.org/drawingml/2006/main">
            <a:off x="6096000" y="1457325"/>
            <a:ext cx="56388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0D7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BFF148-36FE-41D0-A0E9-F91C9A36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33525"/>
            <a:ext cx="114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01 / 是什么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6E4B95-121C-4727-94BD-AFA3824B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43075"/>
            <a:ext cx="5334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跨会话记忆只保存可治理事实，并由 Agent 显式检索。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622207-E02C-4D38-B745-03DA6BB5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33525"/>
            <a:ext cx="114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02 / 为什么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36BBC5-446B-4F5F-A361-B7EA3F1B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43075"/>
            <a:ext cx="552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既复用已确认经验，又避免敏感内容和无关历史持续污染上下文。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699335-4A28-43FB-8861-ADAD3888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10668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03 / 怎么做：候选记忆经过 schema、Scope 与生命周期校验；用户可在管理面查询、维护和共享</a:t>
            </a:r>
          </a:p>
        </p:txBody>
      </p:sp>
      <p:cxnSp>
        <p:nvCxnSpPr>
          <p:cNvPr id="187" name=""/>
          <p:cNvCxnSpPr/>
          <p:nvPr/>
        </p:nvCxnSpPr>
        <p:spPr>
          <a:xfrm xmlns:a="http://schemas.openxmlformats.org/drawingml/2006/main">
            <a:off x="571500" y="2476500"/>
            <a:ext cx="106680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0D7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735DCF-056A-469D-B888-E1FA4261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19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912A63-3C4D-4754-B071-F39D6C65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419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75E744-CE10-4112-97DF-D0C0F3FB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419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F69070-6BBF-4E00-8643-B0D9D897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419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4AE29D-0A6B-44A1-B4C9-ADB83851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86050"/>
            <a:ext cx="2190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01 / 沉淀范围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D5AC04-3957-4471-A160-50ED4CF6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90850"/>
            <a:ext cx="2286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偏好与已确认经验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EC23EE-3DB4-4AA7-8FF4-059B5A12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6625"/>
            <a:ext cx="22860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语言、输出格式、诊断结论、操作经验和流程索引。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D12B45-6715-43AB-AE7F-3BD532D8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686050"/>
            <a:ext cx="2190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02 / 明确排除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C3723C-2F6E-4127-ADEE-E93CB04F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90850"/>
            <a:ext cx="2286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不复制原始内容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663140-7BC5-46C3-AB3C-7ADBD3252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76625"/>
            <a:ext cx="22860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raw prompt、模型全文、附件正文、凭证与越权数据。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758977-389C-492C-87EC-CF0FDAA4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686050"/>
            <a:ext cx="2190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03 / 显式使用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ACF4AA-B695-4ABD-ADE1-CC22ADEC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90850"/>
            <a:ext cx="2286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工具化检索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48E7A6-75C5-4B03-8ACD-5D14DC9C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476625"/>
            <a:ext cx="22860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search / detail / add 由受治理 Capability 执行。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F6F5C9-AE46-4B3A-8F22-FBC2CCB3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190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04 / 生命周期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F38D93-0B13-4EA8-A420-AFFCC2A6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90850"/>
            <a:ext cx="238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隔离且不阻塞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CD8703-7E47-464C-AAA4-24CC5A47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76625"/>
            <a:ext cx="23812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按双 Scope 管理；提取、老化和写入失败不阻塞终态。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478E78-40D8-4A3D-A696-EA18C0BC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70008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D82369-9716-4978-9F56-D930A2B8A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57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A5A569-A899-43A4-8226-780D5088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647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04 / 做成什么样：记忆可见、可管、可引用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24C6FA-015C-40BC-9DAA-5A5D39EB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48300"/>
            <a:ext cx="6477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用户能够核查系统记住了什么，并进行人工维护。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7AB498-4C60-4C97-BD34-08885AB6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857750"/>
            <a:ext cx="39909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12B"/>
          </a:solidFill>
          <a:ln xmlns:a="http://schemas.openxmlformats.org/drawingml/2006/main" w="0">
            <a:solidFill>
              <a:srgbClr val="13212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EBFC20-4176-4B18-AF0E-228C7690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048250"/>
            <a:ext cx="3524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05 / 到什么程度：经验复用不突破安全边界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104BB0-F7E7-4039-959C-B69F1ED4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448300"/>
            <a:ext cx="3524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C7D2DC"/>
                </a:solidFill>
                <a:latin typeface="Microsoft YaHei"/>
                <a:ea typeface="Microsoft YaHei"/>
                <a:cs typeface="Microsoft YaHei"/>
              </a:defRPr>
            </a:pPr>
            <a:r>
              <a:t>不同用户、租户和 Agent 的记忆不会混用。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D2F053-A78F-4E03-9693-A21FF643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7A848F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依据：长期记忆核心、记忆工具、提取与老化特性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5ED86A-4615-4B7C-8F2D-BF4330F5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57950"/>
            <a:ext cx="838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A848F"/>
                </a:solidFill>
                <a:latin typeface="Microsoft YaHei"/>
                <a:ea typeface="Microsoft YaHei"/>
                <a:cs typeface="Microsoft YaHei"/>
              </a:defRPr>
            </a:pPr>
            <a:r>
              <a:t>16 / 28</a:t>
            </a:r>
          </a:p>
        </p:txBody>
      </p:sp>
    </p:spTree>
    <p:extLst>
      <p:ext uri="{BB962C8B-B14F-4D97-AF65-F5344CB8AC3E}">
        <p14:creationId xmlns:p14="http://schemas.microsoft.com/office/powerpoint/2010/main" val="106461050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5539E68-C44A-4DF3-805C-365C9220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0"/>
            <a:ext cx="22383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22"/>
          </a:solidFill>
          <a:ln xmlns:a="http://schemas.openxmlformats.org/drawingml/2006/main" w="0">
            <a:solidFill>
              <a:srgbClr val="1019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71F9EE-3DFD-45E8-9074-012286A4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59055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NEXTAGENT / TELECOM AGENT FRAMEWORK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F49769-590B-4B07-AEB1-DF20973E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85725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相对业界通用智能体框架的增量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7C454D-3435-4CF9-81E7-BC02D456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81375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77E50B-F5B9-462A-BDB1-C67EB84B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67125"/>
            <a:ext cx="7858125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不比较模型聪明程度，而比较能力是否真正进入生产主路径</a:t>
            </a:r>
          </a:p>
        </p:txBody>
      </p:sp>
      <p:cxnSp>
        <p:nvCxnSpPr>
          <p:cNvPr id="120" name=""/>
          <p:cNvCxnSpPr/>
          <p:nvPr/>
        </p:nvCxnSpPr>
        <p:spPr>
          <a:xfrm xmlns:a="http://schemas.openxmlformats.org/drawingml/2006/main">
            <a:off x="495300" y="5905500"/>
            <a:ext cx="898207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0D7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D8AE78-E50F-41F4-BBB9-E4B4026B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15050"/>
            <a:ext cx="13811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核心结论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EED7DD-F490-4BC3-B7AA-168828C1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096000"/>
            <a:ext cx="723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业界常见组件是起点；NextAgent 的增量是异常、越权、重启和集成时仍保持同一语义。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881DC9-BCE3-429A-BD13-CBF13EAF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28625"/>
            <a:ext cx="1428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FD5E8"/>
                </a:solidFill>
                <a:latin typeface="Microsoft YaHei"/>
                <a:ea typeface="Microsoft YaHei"/>
                <a:cs typeface="Microsoft YaHei"/>
              </a:defRPr>
            </a:pPr>
            <a:r>
              <a:t>17 — 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5D4B43-A224-4FE7-B4FC-B7792379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066800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关键特性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7980A9-2F96-48FF-ACB0-1436692A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428750"/>
            <a:ext cx="1428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AEBAC5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能力如何组成可信任务闭环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EFC3BC-038F-44F6-BB3D-17F9C226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190750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黑盒效果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D230F5-2E02-4F30-831E-3F815E43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552700"/>
            <a:ext cx="1428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AEBAC5"/>
                </a:solidFill>
                <a:latin typeface="Microsoft YaHei"/>
                <a:ea typeface="Microsoft YaHei"/>
                <a:cs typeface="Microsoft YaHei"/>
              </a:defRPr>
            </a:pPr>
            <a:r>
              <a:t>用户看到什么、能做什么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AC186E-E947-438C-9AB2-8C3A7DA3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314700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业界增量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AE8D63-75D9-4A16-9D0F-06421682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676650"/>
            <a:ext cx="1428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AEBAC5"/>
                </a:solidFill>
                <a:latin typeface="Microsoft YaHei"/>
                <a:ea typeface="Microsoft YaHei"/>
                <a:cs typeface="Microsoft YaHei"/>
              </a:defRPr>
            </a:pPr>
            <a:r>
              <a:t>从组件齐全到同一主路径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44EC08-E6F5-4C80-B354-9654DE51D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438650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扩展交付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34016A-FDA4-418D-876A-2F8272B7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800600"/>
            <a:ext cx="1428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AEBAC5"/>
                </a:solidFill>
                <a:latin typeface="Microsoft YaHei"/>
                <a:ea typeface="Microsoft YaHei"/>
                <a:cs typeface="Microsoft YaHei"/>
              </a:defRPr>
            </a:pPr>
            <a:r>
              <a:t>以稳定边界接入领域能力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A2C20F-2958-436A-A5CF-CB5A2677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810250"/>
            <a:ext cx="1428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AEBAC5"/>
                </a:solidFill>
                <a:latin typeface="Microsoft YaHei"/>
                <a:ea typeface="Microsoft YaHei"/>
                <a:cs typeface="Microsoft YaHei"/>
              </a:defRPr>
            </a:pPr>
            <a:r>
              <a:t>对外技术交流材料｜2026.08</a:t>
            </a:r>
          </a:p>
        </p:txBody>
      </p:sp>
    </p:spTree>
    <p:extLst>
      <p:ext uri="{BB962C8B-B14F-4D97-AF65-F5344CB8AC3E}">
        <p14:creationId xmlns:p14="http://schemas.microsoft.com/office/powerpoint/2010/main" val="157227511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2AB716F7-84AC-4DE4-9EB8-DD5731EF3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85725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业界常见能力是起点，NextAgent 的增量在“同一主路径”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35F064-8699-4624-AD0F-BF610B74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7143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84B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93BECE-9633-44B4-9D77-015F43F6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47700"/>
            <a:ext cx="590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业界基线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AFA874-EB2A-424A-9478-96C292A1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7143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6B00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4B5BEC-11FC-43A3-9EC8-3FDDE34A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47700"/>
            <a:ext cx="666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8037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NextAgent 增量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C9DBC0-88C5-496D-88DA-A7217A95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7143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D4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B8132C-A35D-4682-BF50-B0AEC560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7700"/>
            <a:ext cx="742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外部验收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92E125-6FBC-4A73-B7ED-19A5E718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1277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36A345-9F1C-4969-AB2A-EE7708C2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能力方向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A0F0D0-F589-4F2A-B5CD-2D6E046E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724025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业界常见能力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2232C1-CBAE-4FE9-84B8-5D64FAC4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724025"/>
            <a:ext cx="27146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NextAgent 增量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40809E-023C-4DB0-8DDC-2E9ABC6C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724025"/>
            <a:ext cx="2571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可观察结果</a:t>
            </a:r>
          </a:p>
        </p:txBody>
      </p:sp>
      <p:cxnSp>
        <p:nvCxnSpPr>
          <p:cNvPr id="370" name=""/>
          <p:cNvCxnSpPr/>
          <p:nvPr/>
        </p:nvCxnSpPr>
        <p:spPr>
          <a:xfrm xmlns:a="http://schemas.openxmlformats.org/drawingml/2006/main">
            <a:off x="457200" y="161925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0"/>
            </a:solidFill>
            <a:prstDash val="solid"/>
          </a:ln>
        </p:spPr>
      </p:cxnSp>
      <p:cxnSp>
        <p:nvCxnSpPr>
          <p:cNvPr id="371" name=""/>
          <p:cNvCxnSpPr/>
          <p:nvPr/>
        </p:nvCxnSpPr>
        <p:spPr>
          <a:xfrm xmlns:a="http://schemas.openxmlformats.org/drawingml/2006/main">
            <a:off x="457200" y="200025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0D7"/>
            </a:solidFill>
            <a:prstDash val="solid"/>
          </a:ln>
        </p:spPr>
      </p:cxnSp>
      <p:cxnSp>
        <p:nvCxnSpPr>
          <p:cNvPr id="372" name=""/>
          <p:cNvCxnSpPr/>
          <p:nvPr/>
        </p:nvCxnSpPr>
        <p:spPr>
          <a:xfrm xmlns:a="http://schemas.openxmlformats.org/drawingml/2006/main">
            <a:off x="457200" y="276225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0D7"/>
            </a:solidFill>
            <a:prstDash val="solid"/>
          </a:ln>
        </p:spPr>
      </p:cxnSp>
      <p:cxnSp>
        <p:nvCxnSpPr>
          <p:cNvPr id="373" name=""/>
          <p:cNvCxnSpPr/>
          <p:nvPr/>
        </p:nvCxnSpPr>
        <p:spPr>
          <a:xfrm xmlns:a="http://schemas.openxmlformats.org/drawingml/2006/main">
            <a:off x="457200" y="352425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0D7"/>
            </a:solidFill>
            <a:prstDash val="solid"/>
          </a:ln>
        </p:spPr>
      </p:cxnSp>
      <p:cxnSp>
        <p:nvCxnSpPr>
          <p:cNvPr id="374" name=""/>
          <p:cNvCxnSpPr/>
          <p:nvPr/>
        </p:nvCxnSpPr>
        <p:spPr>
          <a:xfrm xmlns:a="http://schemas.openxmlformats.org/drawingml/2006/main">
            <a:off x="457200" y="428625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0D7"/>
            </a:solidFill>
            <a:prstDash val="solid"/>
          </a:ln>
        </p:spPr>
      </p:cxnSp>
      <p:cxnSp>
        <p:nvCxnSpPr>
          <p:cNvPr id="375" name=""/>
          <p:cNvCxnSpPr/>
          <p:nvPr/>
        </p:nvCxnSpPr>
        <p:spPr>
          <a:xfrm xmlns:a="http://schemas.openxmlformats.org/drawingml/2006/main">
            <a:off x="457200" y="504825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0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A81BB6-C18D-442F-8ED8-D56BFD86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61925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7"/>
          </a:solidFill>
          <a:ln xmlns:a="http://schemas.openxmlformats.org/drawingml/2006/main" w="0">
            <a:solidFill>
              <a:srgbClr val="C9D0D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5EEFCC-57D9-4CCC-9606-AD91AD1C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61925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7"/>
          </a:solidFill>
          <a:ln xmlns:a="http://schemas.openxmlformats.org/drawingml/2006/main" w="0">
            <a:solidFill>
              <a:srgbClr val="C9D0D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D511EF-A46E-4CDC-B212-2DC81966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61925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7"/>
          </a:solidFill>
          <a:ln xmlns:a="http://schemas.openxmlformats.org/drawingml/2006/main" w="0">
            <a:solidFill>
              <a:srgbClr val="C9D0D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1ED5DA-679D-4E6D-98BF-51095F66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47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任务运行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86900E-9B0F-495D-87CF-B69DC53E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47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用户与平台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5CA5FA-2DA3-41B0-B1E3-D30AB8D5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1431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84B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850AA1-D739-434C-AD99-791FBB69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076450"/>
            <a:ext cx="28289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对话或任务返回结果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F254CF-5808-4ECF-97FB-C7BDF50B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343150"/>
            <a:ext cx="2952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流式输出与工具过程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9B6384-FB52-498F-942D-BD9C5EA9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1431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6B00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70B3DA-1D2C-4151-B21B-8743EECA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076450"/>
            <a:ext cx="26384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accepted run + canonical timeline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63010E-094D-4EBC-830A-C1028C780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343150"/>
            <a:ext cx="2762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唯一终态、取消重试、断线重放与恢复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5AE505-C50C-4C97-B143-EDB9C122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1431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D4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6477F2-6031-4C84-956F-26590256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76450"/>
            <a:ext cx="24479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任务过程连续可见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082859-58C1-41BB-BBAE-42220BCE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343150"/>
            <a:ext cx="2571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重复提交不重复执行；断线后可续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CC2D61-3CCD-4CA6-89EE-426EF25B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047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能力执行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7CE9B5-53B7-4E93-9A99-36A357080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047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开发与治理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3BB0D8-0127-415C-92B1-F6519CF2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9051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84B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F12097-D5B9-4EAC-AE59-5797D986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838450"/>
            <a:ext cx="28289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Tool / Plugin 可被模型调用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11D870-7946-48AA-88D3-C97677146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105150"/>
            <a:ext cx="2952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按描述选择能力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873809E-EFD0-486C-9D0E-E2C92F29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9051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6B00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9868FA8-24F6-4184-A886-9FA9B54E8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838450"/>
            <a:ext cx="26384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Catalog + Agent binding + policy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7E7855-B078-4298-9E01-850DAC44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105150"/>
            <a:ext cx="2762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sandbox、确认授权与安全结果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86953E2-A7D1-4736-8A0C-2F10F157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9051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D4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B5D98CE-C9F4-414D-90B4-37595AE8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38450"/>
            <a:ext cx="24479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能力可用范围清晰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1DFAFB1-8447-4AA7-9ABD-0238FF37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105150"/>
            <a:ext cx="2571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越权能力不可见；危险动作停下来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771B94D-8A80-4B7C-AC4A-72C7F12A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047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上下文记忆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CF134F5-C365-491C-96DF-D7FCCBDD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47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用户与开发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BDF7E0D-80E1-4845-9A35-5DDDDEAE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6671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84B"/>
          </a:solidFill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4B0550A-F425-4934-8486-BC990975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600450"/>
            <a:ext cx="28289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RAG、会话记忆或向量检索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F580EA4-DE53-43D3-8E1D-DF566807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867150"/>
            <a:ext cx="2952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补充模型上下文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78901D2-6AC6-41D5-B501-28838E84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6671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6B00"/>
          </a:solidFill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797D93F-64C0-4B15-B26F-3F47E066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600450"/>
            <a:ext cx="26384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预算压缩 + 显式记忆工具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938CF76-A8B2-4698-A0C5-0E72F589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867150"/>
            <a:ext cx="2762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双 Scope、引用读回、主链路不阻塞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F81A7E3-76C9-4F5E-9297-8273324E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6671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D4"/>
          </a:solidFill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D5D9011-E2B5-46DC-91CA-DC384BD4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00450"/>
            <a:ext cx="24479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长会话仍聚焦当前任务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71653A3-F02C-4894-8FFD-A15DC9BC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867150"/>
            <a:ext cx="2571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记忆可管；跨用户和 Agent 不混用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E2C009A-3A5C-4F02-A6ED-944ACD29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047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交付运维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F72DFEF-E980-43A9-A066-1C9A4E6F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47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平台与集成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08C3D27-3A95-41D3-B088-774D53F0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4291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84B"/>
          </a:solidFill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8AA7F36-AD0D-4130-A4BB-97C38F21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4362450"/>
            <a:ext cx="28289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日志、trace、API 和流程组件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B73C2E1-E326-4E2E-9AFB-6E19D840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29150"/>
            <a:ext cx="2952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各自提供诊断或扩展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C50772A-A40A-4731-955E-8AC4EBA9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4291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6B00"/>
          </a:solidFill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A3F7859-FB58-4B37-8513-B95A48735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362450"/>
            <a:ext cx="26384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run 串联 stream / history / audit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EE7AE6E-9F7E-48C4-8E77-E8C2694B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629150"/>
            <a:ext cx="2762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OTel、Channel、Gateway 与候选包 E2E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C9C2913-B9D6-4B8F-9868-D42427B1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4291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D4"/>
          </a:solidFill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C6FE00D-3C5C-4AA2-B236-BD81EC29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62450"/>
            <a:ext cx="24479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问题与责任边界可定位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4CFC48C-4EFD-470A-B32D-9C182964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629150"/>
            <a:ext cx="2571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重启后状态不失真；集成不分叉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C719A63-0C62-4857-85A2-3FC5F382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0"/>
            <a:ext cx="1619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对外比较原则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843BC32-034C-4C39-829E-B6191759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314950"/>
            <a:ext cx="9048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不点名厂商，不比较组件数量；只比较同一能力在异常、安全、恢复和交付场景下的黑盒结果。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483E0F7-8CC2-428C-911E-D6D563174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7A848F"/>
                </a:solidFill>
                <a:latin typeface="Microsoft YaHei"/>
                <a:ea typeface="Microsoft YaHei"/>
                <a:cs typeface="Microsoft YaHei"/>
              </a:defRPr>
            </a:pPr>
            <a:r>
              <a:t>对比口径：NextAgent Feature List 与通用智能体框架能力类别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733C689-CEEC-4B0F-994D-701EE459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838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A848F"/>
                </a:solidFill>
                <a:latin typeface="Microsoft YaHei"/>
                <a:ea typeface="Microsoft YaHei"/>
                <a:cs typeface="Microsoft YaHei"/>
              </a:defRPr>
            </a:pPr>
            <a:r>
              <a:t>18 / 28</a:t>
            </a:r>
          </a:p>
        </p:txBody>
      </p:sp>
    </p:spTree>
    <p:extLst>
      <p:ext uri="{BB962C8B-B14F-4D97-AF65-F5344CB8AC3E}">
        <p14:creationId xmlns:p14="http://schemas.microsoft.com/office/powerpoint/2010/main" val="77529282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8F3232A1-6312-4EB7-8667-58EC4107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68580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四类关键差异，直接改变生产使用结果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CDC239-4E90-4BC7-AD2D-1DB93DE7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762000"/>
            <a:ext cx="4191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差异不在“有没有组件”，而在于这些组件是否受同一运行事实、权限边界和恢复语义约束。</a:t>
            </a:r>
          </a:p>
        </p:txBody>
      </p:sp>
      <p:cxnSp>
        <p:nvCxnSpPr>
          <p:cNvPr id="371" name=""/>
          <p:cNvCxnSpPr/>
          <p:nvPr/>
        </p:nvCxnSpPr>
        <p:spPr>
          <a:xfrm xmlns:a="http://schemas.openxmlformats.org/drawingml/2006/main">
            <a:off x="457200" y="180975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0D7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882FC3-14BC-41DF-B1E0-DF240FE4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8097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7"/>
          </a:solidFill>
          <a:ln xmlns:a="http://schemas.openxmlformats.org/drawingml/2006/main" w="0">
            <a:solidFill>
              <a:srgbClr val="C9D0D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00DED6-7218-4B67-8123-B56C00C7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097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7"/>
          </a:solidFill>
          <a:ln xmlns:a="http://schemas.openxmlformats.org/drawingml/2006/main" w="0">
            <a:solidFill>
              <a:srgbClr val="C9D0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6E06B6-D193-4161-A4CE-D2A221EE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342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01 / 运行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397811-370C-4363-BD8E-575F71A1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323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状态同源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081B70-76DE-4603-B6C2-BDD393E5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3238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从输出流到权威终态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1C4422-1DD9-4355-A9C2-EAC5C57A3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90900"/>
            <a:ext cx="3333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“断线、重试和重启后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还相信当前状态吗？”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701E7D-02F0-49AB-B0EF-FA328618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62450"/>
            <a:ext cx="33337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NextAgent 用 accepted run、timeline、history 和 terminal commit 保持一致。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1343BB-9F87-4F4F-A444-B60E8037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38350"/>
            <a:ext cx="3143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02 / 治理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1E3764-883D-4B35-B883-AD3D3D259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3143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授权同源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BA288C-65DE-41E7-A565-0C52E82D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38450"/>
            <a:ext cx="3143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从发现能力到受控执行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A7985F-6743-46AB-86F9-E300C25F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90900"/>
            <a:ext cx="31432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“能力增多是否意味着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权限同步扩大？”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6FEA64-E083-477A-B430-C557793E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62450"/>
            <a:ext cx="3143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Catalog、Agent binding、risk policy、sandbox 与人工输入共同收敛权限。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6A3EC5-CBAE-4331-9678-48A59A61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38350"/>
            <a:ext cx="3143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03 / 交付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70120F-536A-4901-B0F4-5448EB2C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81250"/>
            <a:ext cx="323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证据同源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2A7264-515E-46A3-A3CD-AD9BC9E5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38450"/>
            <a:ext cx="3238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从用户体验到平台运维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36FE2F-676B-45E3-AB71-E8201EFF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90900"/>
            <a:ext cx="3238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“能否从一个结果追到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能力、策略和恢复事实？”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511B30-66AB-4F24-BDD2-D3777F47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62450"/>
            <a:ext cx="32385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run 关联 stream、audit、metrics、trace、Channel 与真实候选包验证。</a:t>
            </a:r>
          </a:p>
        </p:txBody>
      </p:sp>
      <p:cxnSp>
        <p:nvCxnSpPr>
          <p:cNvPr id="389" name=""/>
          <p:cNvCxnSpPr/>
          <p:nvPr/>
        </p:nvCxnSpPr>
        <p:spPr>
          <a:xfrm xmlns:a="http://schemas.openxmlformats.org/drawingml/2006/main">
            <a:off x="457200" y="514350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0D7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B6E610-C77B-42E8-84DE-DFA7466E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共同结果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C4ADB9-8498-4346-BA8C-0176F18E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438775"/>
            <a:ext cx="3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A2F786-29AA-4D1A-8CCE-897B339E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429250"/>
            <a:ext cx="1809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重复提交无副作用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E805DC-6620-4233-8364-7B891518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438775"/>
            <a:ext cx="3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0C5EB0-B808-46FF-90CC-AA99C80A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5429250"/>
            <a:ext cx="1524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越权能力不可见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8EB523-B4A5-4A3F-9597-F3701A430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438775"/>
            <a:ext cx="3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66C3C1-766E-4A2D-B2D5-C682F05D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429250"/>
            <a:ext cx="1905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重启恢复不失真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3CBD18-705F-494F-A51B-79F675EEA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438775"/>
            <a:ext cx="3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B5D4A6-5D92-40DA-B165-6C889636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429250"/>
            <a:ext cx="1905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客户接入不复制生命周期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B0860C-A4F0-48D4-82B5-0CB3C3D1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7A848F"/>
                </a:solidFill>
                <a:latin typeface="Microsoft YaHei"/>
                <a:ea typeface="Microsoft YaHei"/>
                <a:cs typeface="Microsoft YaHei"/>
              </a:defRPr>
            </a:pPr>
            <a:r>
              <a:t>外部验收：正常路径与异常、越权、恢复反例共同验证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EA740B-CA1E-4C05-87D6-1A424698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838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A848F"/>
                </a:solidFill>
                <a:latin typeface="Microsoft YaHei"/>
                <a:ea typeface="Microsoft YaHei"/>
                <a:cs typeface="Microsoft YaHei"/>
              </a:defRPr>
            </a:pPr>
            <a:r>
              <a:t>19 / 28</a:t>
            </a:r>
          </a:p>
        </p:txBody>
      </p:sp>
    </p:spTree>
    <p:extLst>
      <p:ext uri="{BB962C8B-B14F-4D97-AF65-F5344CB8AC3E}">
        <p14:creationId xmlns:p14="http://schemas.microsoft.com/office/powerpoint/2010/main" val="201750295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4D06B725-B1E0-4B3A-9188-B1CC972E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04775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增量价值最终落在网络运维的四类任务结果上</a:t>
            </a:r>
          </a:p>
        </p:txBody>
      </p:sp>
      <p:cxnSp>
        <p:nvCxnSpPr>
          <p:cNvPr id="197" name=""/>
          <p:cNvCxnSpPr/>
          <p:nvPr/>
        </p:nvCxnSpPr>
        <p:spPr>
          <a:xfrm xmlns:a="http://schemas.openxmlformats.org/drawingml/2006/main">
            <a:off x="457200" y="1457325"/>
            <a:ext cx="54102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0D7"/>
            </a:solidFill>
            <a:prstDash val="solid"/>
          </a:ln>
        </p:spPr>
      </p:cxnSp>
      <p:cxnSp>
        <p:nvCxnSpPr>
          <p:cNvPr id="198" name=""/>
          <p:cNvCxnSpPr/>
          <p:nvPr/>
        </p:nvCxnSpPr>
        <p:spPr>
          <a:xfrm xmlns:a="http://schemas.openxmlformats.org/drawingml/2006/main">
            <a:off x="6096000" y="1457325"/>
            <a:ext cx="56388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0D7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522E72-3CB6-4855-9E35-B0558EB8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33525"/>
            <a:ext cx="114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01 / 是什么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22FB8B-B816-4B86-BD34-AB9441C2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43075"/>
            <a:ext cx="5334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从只读、可解释、可审计的最小闭环开始，再按风险逐步接入真实动作。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C9093D-336C-406D-BB22-80D6682D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33525"/>
            <a:ext cx="114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02 / 为什么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4AE9EA-F75F-49E4-B4D4-F6966F94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43075"/>
            <a:ext cx="552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让技术增量直接转化为诊断效率、变更安全、流程稳定和知识复用。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91E4D8-9CF2-4C70-BA2F-07091D04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85975"/>
            <a:ext cx="10668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03 / 怎么做：为每个场景明确输入证据、受治理能力、人工关口和可核查结果</a:t>
            </a:r>
          </a:p>
        </p:txBody>
      </p:sp>
      <p:cxnSp>
        <p:nvCxnSpPr>
          <p:cNvPr id="204" name=""/>
          <p:cNvCxnSpPr/>
          <p:nvPr/>
        </p:nvCxnSpPr>
        <p:spPr>
          <a:xfrm xmlns:a="http://schemas.openxmlformats.org/drawingml/2006/main">
            <a:off x="571500" y="2305050"/>
            <a:ext cx="106680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0D7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38995A-6209-4064-B193-87F94925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4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273A8D-9851-4F2C-8450-BA12494B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24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90BBC7-EECA-4EAC-8B5E-56FE875A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24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D53066-F849-4863-951F-AE5004C1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24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45DBB9-29EE-440E-B1EB-C61C2365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24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C544C1-5CDA-41E0-8AEB-CB0F245A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9555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01 / 故障诊断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B7B651-FBF0-4313-8A8C-C4D8D04D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跨系统取证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B8261A-70AF-4EEA-939C-30D5B6E9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1857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关联告警、KPI 与配置，输出根因假设和证据链。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958531-3528-4CE3-AF63-73FBA7B3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49555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02 / 配置审查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D36A0C-8526-4354-8A38-7337F7ED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76225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规则化检查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C63E43-5C8A-4AEC-A94E-B427541B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143250"/>
            <a:ext cx="1857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Skill / Workflow 执行审查，高风险动作前确认。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9A7223-9804-462D-A4DC-274A4D46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9555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03 / 巡检分析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0C7F3B-B98C-40D3-8718-A4BB2004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6225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标准流程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4414DA-BF19-4C8D-AA77-A73C459E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43250"/>
            <a:ext cx="1857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按版本化步骤推进，节点状态和恢复可见。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6C20E5-CD7B-4466-B8A2-8DF84FD4A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9555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04 / 工单协同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FDF2B5-C32D-4FE0-ABF2-277FDD48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6225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客户流程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F0D079-BD2D-403A-A84A-08079C94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143250"/>
            <a:ext cx="1857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Channel 回传状态，取消和终态语义一致。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59D8C8-ACF0-4217-A3D4-74002BBA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49555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05 / 知识报告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5876A3-C8BF-4769-875D-C6FBF89C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6225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事实生成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C6DBF5-6797-4503-B289-F21AC14D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43250"/>
            <a:ext cx="1857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RAG + Prompt 形成双语、可引用结论。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30AEBA-B12A-44E0-A61E-E7DF2FF9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3476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9368F0-D62E-4304-8FDE-EFF953A3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4758B7-4D97-4870-AA50-70CA82F0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81450"/>
            <a:ext cx="304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输入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471CD4-C64A-4455-AD77-C42F993AF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38625"/>
            <a:ext cx="3048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告警 · KPI · 配置 · 附件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E433D0-E736-4691-9D89-C53F0FFA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857625"/>
            <a:ext cx="3476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A2BB7B-1AE4-4377-BCC3-30B4CF85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857625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05188C0-FA4F-44AD-80C7-37CFFCD3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981450"/>
            <a:ext cx="304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控制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DB0DFF-94A6-4AAE-8AB0-2ADB9711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238625"/>
            <a:ext cx="3048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授权 · 确认 · 接管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E469C0-D835-41C3-A44E-54A0838D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57625"/>
            <a:ext cx="3943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E99490B-03F1-4891-A85E-4074F259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57625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FAE7BA0-171C-4116-8171-2E3FE459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81450"/>
            <a:ext cx="34766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输出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6E9C95B-A2C9-4182-B27F-AE0E93B3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38625"/>
            <a:ext cx="34766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证据 · 建议 · 报告 · 审计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D42F647-B7DF-4681-95F6-DA1430BD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5410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7B64D1F-CFA9-436E-943B-4F48E64F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14900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04 / 做成什么样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BF04B1-CF81-4762-ACB0-A5CAC26F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0"/>
            <a:ext cx="495300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一次回答升级为任务资产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193F909-9444-4117-8CCB-31EEDFF7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76875"/>
            <a:ext cx="495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结论、过程和处置经验可复用、可复盘。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B40AC84-F9B8-4560-BCBF-05C9D219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62500"/>
            <a:ext cx="5638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12B"/>
          </a:solidFill>
          <a:ln xmlns:a="http://schemas.openxmlformats.org/drawingml/2006/main" w="0">
            <a:solidFill>
              <a:srgbClr val="13212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3B9F64E-A05A-4368-B265-C0902AB1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14900"/>
            <a:ext cx="5143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76D4E6"/>
                </a:solidFill>
                <a:latin typeface="Microsoft YaHei"/>
                <a:ea typeface="Microsoft YaHei"/>
                <a:cs typeface="Microsoft YaHei"/>
              </a:defRPr>
            </a:pPr>
            <a:r>
              <a:t>05 / 到什么程度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F814155-86E5-4B1C-9192-42DF4F3A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43500"/>
            <a:ext cx="514350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从只读到执行逐级控险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6B99F61-C6C0-4D55-86E5-1B7C7383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76875"/>
            <a:ext cx="5143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C7D2DC"/>
                </a:solidFill>
                <a:latin typeface="Microsoft YaHei"/>
                <a:ea typeface="Microsoft YaHei"/>
                <a:cs typeface="Microsoft YaHei"/>
              </a:defRPr>
            </a:pPr>
            <a:r>
              <a:t>每增加一项动作能力，都有明确授权和验证路径。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DCF344D-6284-4CB9-B779-37D62F71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7A848F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依据：电信双语、RAG、Workflow、Channel 与 Capability 特性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0BEAC30-8F01-48C0-82DA-22EB24E3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57950"/>
            <a:ext cx="1790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A848F"/>
                </a:solidFill>
                <a:latin typeface="Microsoft YaHei"/>
                <a:ea typeface="Microsoft YaHei"/>
                <a:cs typeface="Microsoft YaHei"/>
              </a:defRPr>
            </a:pPr>
            <a:r>
              <a:t>20 / 28</a:t>
            </a:r>
          </a:p>
        </p:txBody>
      </p:sp>
    </p:spTree>
    <p:extLst>
      <p:ext uri="{BB962C8B-B14F-4D97-AF65-F5344CB8AC3E}">
        <p14:creationId xmlns:p14="http://schemas.microsoft.com/office/powerpoint/2010/main" val="56198682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5539E68-C44A-4DF3-805C-365C9220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0"/>
            <a:ext cx="22383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22"/>
          </a:solidFill>
          <a:ln xmlns:a="http://schemas.openxmlformats.org/drawingml/2006/main" w="0">
            <a:solidFill>
              <a:srgbClr val="1019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71F9EE-3DFD-45E8-9074-012286A4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59055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NEXTAGENT / TELECOM AGENT FRAMEWORK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F49769-590B-4B07-AEB1-DF20973E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85725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以稳定扩展面交付领域差异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7C454D-3435-4CF9-81E7-BC02D456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81375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77E50B-F5B9-462A-BDB1-C67EB84B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67125"/>
            <a:ext cx="7858125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优先组合业务能力；Runtime 与公共契约由平台统一治理</a:t>
            </a:r>
          </a:p>
        </p:txBody>
      </p:sp>
      <p:cxnSp>
        <p:nvCxnSpPr>
          <p:cNvPr id="120" name=""/>
          <p:cNvCxnSpPr/>
          <p:nvPr/>
        </p:nvCxnSpPr>
        <p:spPr>
          <a:xfrm xmlns:a="http://schemas.openxmlformats.org/drawingml/2006/main">
            <a:off x="495300" y="5905500"/>
            <a:ext cx="898207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0D7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D8AE78-E50F-41F4-BBB9-E4B4026B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15050"/>
            <a:ext cx="13811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核心结论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EED7DD-F490-4BC3-B7AA-168828C1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096000"/>
            <a:ext cx="723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扩展形态各有唯一职责，黑盒效果各有验收出口，避免把流程、执行和治理塞进一个插件。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881DC9-BCE3-429A-BD13-CBF13EAF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28625"/>
            <a:ext cx="1428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FD5E8"/>
                </a:solidFill>
                <a:latin typeface="Microsoft YaHei"/>
                <a:ea typeface="Microsoft YaHei"/>
                <a:cs typeface="Microsoft YaHei"/>
              </a:defRPr>
            </a:pPr>
            <a:r>
              <a:t>21 — 28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5D4B43-A224-4FE7-B4FC-B7792379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066800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关键特性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7980A9-2F96-48FF-ACB0-1436692A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428750"/>
            <a:ext cx="1428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AEBAC5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能力如何组成可信任务闭环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EFC3BC-038F-44F6-BB3D-17F9C226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190750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黑盒效果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D230F5-2E02-4F30-831E-3F815E43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552700"/>
            <a:ext cx="1428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AEBAC5"/>
                </a:solidFill>
                <a:latin typeface="Microsoft YaHei"/>
                <a:ea typeface="Microsoft YaHei"/>
                <a:cs typeface="Microsoft YaHei"/>
              </a:defRPr>
            </a:pPr>
            <a:r>
              <a:t>用户看到什么、能做什么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AC186E-E947-438C-9AB2-8C3A7DA3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314700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业界增量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AE8D63-75D9-4A16-9D0F-06421682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676650"/>
            <a:ext cx="1428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AEBAC5"/>
                </a:solidFill>
                <a:latin typeface="Microsoft YaHei"/>
                <a:ea typeface="Microsoft YaHei"/>
                <a:cs typeface="Microsoft YaHei"/>
              </a:defRPr>
            </a:pPr>
            <a:r>
              <a:t>从组件齐全到同一主路径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44EC08-E6F5-4C80-B354-9654DE51D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438650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扩展交付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34016A-FDA4-418D-876A-2F8272B7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800600"/>
            <a:ext cx="1428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AEBAC5"/>
                </a:solidFill>
                <a:latin typeface="Microsoft YaHei"/>
                <a:ea typeface="Microsoft YaHei"/>
                <a:cs typeface="Microsoft YaHei"/>
              </a:defRPr>
            </a:pPr>
            <a:r>
              <a:t>以稳定边界接入领域能力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A2C20F-2958-436A-A5CF-CB5A2677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810250"/>
            <a:ext cx="1428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AEBAC5"/>
                </a:solidFill>
                <a:latin typeface="Microsoft YaHei"/>
                <a:ea typeface="Microsoft YaHei"/>
                <a:cs typeface="Microsoft YaHei"/>
              </a:defRPr>
            </a:pPr>
            <a:r>
              <a:t>对外技术交流材料｜2026.08</a:t>
            </a:r>
          </a:p>
        </p:txBody>
      </p:sp>
    </p:spTree>
    <p:extLst>
      <p:ext uri="{BB962C8B-B14F-4D97-AF65-F5344CB8AC3E}">
        <p14:creationId xmlns:p14="http://schemas.microsoft.com/office/powerpoint/2010/main" val="157227511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29B3A3E-41EB-4FF8-8CAA-3AFD8BC8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95250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扩展形态各有唯一职责，拒绝“万能插件”</a:t>
            </a:r>
          </a:p>
        </p:txBody>
      </p:sp>
      <p:cxnSp>
        <p:nvCxnSpPr>
          <p:cNvPr id="180" name=""/>
          <p:cNvCxnSpPr/>
          <p:nvPr/>
        </p:nvCxnSpPr>
        <p:spPr>
          <a:xfrm xmlns:a="http://schemas.openxmlformats.org/drawingml/2006/main">
            <a:off x="457200" y="1457325"/>
            <a:ext cx="54102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0D7"/>
            </a:solidFill>
            <a:prstDash val="solid"/>
          </a:ln>
        </p:spPr>
      </p:cxnSp>
      <p:cxnSp>
        <p:nvCxnSpPr>
          <p:cNvPr id="181" name=""/>
          <p:cNvCxnSpPr/>
          <p:nvPr/>
        </p:nvCxnSpPr>
        <p:spPr>
          <a:xfrm xmlns:a="http://schemas.openxmlformats.org/drawingml/2006/main">
            <a:off x="6096000" y="1457325"/>
            <a:ext cx="56388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0D7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BFF148-36FE-41D0-A0E9-F91C9A36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33525"/>
            <a:ext cx="114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01 / 是什么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6E4B95-121C-4727-94BD-AFA3824B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43075"/>
            <a:ext cx="5334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Agent、Prompt、Skill、Tool、Workflow、Hook 和 Channel 分别承载不同类型的业务差异。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622207-E02C-4D38-B745-03DA6BB5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33525"/>
            <a:ext cx="114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02 / 为什么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36BBC5-446B-4F5F-A361-B7EA3F1B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43075"/>
            <a:ext cx="552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职责清晰才能独立授权、独立验证，并避免扩展绕过 Runtime 和安全边界。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699335-4A28-43FB-8861-ADAD3888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10668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03 / 怎么做：先选最小扩展点；只有突破公共 API、stream、Scope 或 persistence 时才进入 OpenSpec 变更</a:t>
            </a:r>
          </a:p>
        </p:txBody>
      </p:sp>
      <p:cxnSp>
        <p:nvCxnSpPr>
          <p:cNvPr id="187" name=""/>
          <p:cNvCxnSpPr/>
          <p:nvPr/>
        </p:nvCxnSpPr>
        <p:spPr>
          <a:xfrm xmlns:a="http://schemas.openxmlformats.org/drawingml/2006/main">
            <a:off x="571500" y="2476500"/>
            <a:ext cx="106680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0D7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735DCF-056A-469D-B888-E1FA4261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19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912A63-3C4D-4754-B071-F39D6C65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419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75E744-CE10-4112-97DF-D0C0F3FB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419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F69070-6BBF-4E00-8643-B0D9D897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419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4AE29D-0A6B-44A1-B4C9-ADB83851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86050"/>
            <a:ext cx="2190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01 / Prompt / Skill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D5AC04-3957-4471-A160-50ED4CF6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90850"/>
            <a:ext cx="2286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表达与步骤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EC23EE-3DB4-4AA7-8FF4-059B5A12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6625"/>
            <a:ext cx="22860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Prompt 定义角色和输出；Skill 复用领域步骤，不新增权限。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D12B45-6715-43AB-AE7F-3BD532D8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686050"/>
            <a:ext cx="2190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02 / Tool / Agent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C3723C-2F6E-4127-ADEE-E93CB04F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90850"/>
            <a:ext cx="2286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事实与分工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663140-7BC5-46C3-AB3C-7ADBD3252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76625"/>
            <a:ext cx="22860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Tool 做确定动作；Agent 在隔离上下文中完成专家分析。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758977-389C-492C-87EC-CF0FDAA4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686050"/>
            <a:ext cx="2190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03 / Workflow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ACF4AA-B695-4ABD-ADE1-CC22ADEC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90850"/>
            <a:ext cx="2286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标准流程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48E7A6-75C5-4B03-8ACD-5D14DC9C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476625"/>
            <a:ext cx="22860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版本化步骤、依赖、交互与恢复，可委托 Agent Loop。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F6F5C9-AE46-4B3A-8F22-FBC2CCB3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190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04 / Hook / Channel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F38D93-0B13-4EA8-A420-AFFCC2A6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90850"/>
            <a:ext cx="238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治理与接入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CD8703-7E47-464C-AAA4-24CC5A47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76625"/>
            <a:ext cx="23812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Hook 在批准阶段生效；Channel 只做可信协议适配。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478E78-40D8-4A3D-A696-EA18C0BC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70008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D82369-9716-4978-9F56-D930A2B8A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57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A5A569-A899-43A4-8226-780D5088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647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04 / 做成什么样：业务差异通过装配表达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24C6FA-015C-40BC-9DAA-5A5D39EB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48300"/>
            <a:ext cx="6477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多数场景不需要修改 Runtime、Session 或持久化内核。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7AB498-4C60-4C97-BD34-08885AB6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857750"/>
            <a:ext cx="39909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12B"/>
          </a:solidFill>
          <a:ln xmlns:a="http://schemas.openxmlformats.org/drawingml/2006/main" w="0">
            <a:solidFill>
              <a:srgbClr val="13212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EBFC20-4176-4B18-AF0E-228C7690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048250"/>
            <a:ext cx="3524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05 / 到什么程度：加载不等于授权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104BB0-F7E7-4039-959C-B69F1ED4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448300"/>
            <a:ext cx="3524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C7D2DC"/>
                </a:solidFill>
                <a:latin typeface="Microsoft YaHei"/>
                <a:ea typeface="Microsoft YaHei"/>
                <a:cs typeface="Microsoft YaHei"/>
              </a:defRPr>
            </a:pPr>
            <a:r>
              <a:t>扩展必须进入 Catalog，并由目标 Agent 显式激活。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D2F053-A78F-4E03-9693-A21FF643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7A848F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依据：二次开发与平台集成特性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5ED86A-4615-4B7C-8F2D-BF4330F5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57950"/>
            <a:ext cx="838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A848F"/>
                </a:solidFill>
                <a:latin typeface="Microsoft YaHei"/>
                <a:ea typeface="Microsoft YaHei"/>
                <a:cs typeface="Microsoft YaHei"/>
              </a:defRPr>
            </a:pPr>
            <a:r>
              <a:t>22 / 28</a:t>
            </a:r>
          </a:p>
        </p:txBody>
      </p:sp>
    </p:spTree>
    <p:extLst>
      <p:ext uri="{BB962C8B-B14F-4D97-AF65-F5344CB8AC3E}">
        <p14:creationId xmlns:p14="http://schemas.microsoft.com/office/powerpoint/2010/main" val="106461050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8F3232A1-6312-4EB7-8667-58EC4107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68580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业务智能体通常从三种模式起步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CDC239-4E90-4BC7-AD2D-1DB93DE7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762000"/>
            <a:ext cx="4191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先按任务结果选主模式，再组合知识、动作和流程；不要一开始就把所有能力塞进一个 Agent。</a:t>
            </a:r>
          </a:p>
        </p:txBody>
      </p:sp>
      <p:cxnSp>
        <p:nvCxnSpPr>
          <p:cNvPr id="371" name=""/>
          <p:cNvCxnSpPr/>
          <p:nvPr/>
        </p:nvCxnSpPr>
        <p:spPr>
          <a:xfrm xmlns:a="http://schemas.openxmlformats.org/drawingml/2006/main">
            <a:off x="457200" y="180975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0D7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882FC3-14BC-41DF-B1E0-DF240FE4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8097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7"/>
          </a:solidFill>
          <a:ln xmlns:a="http://schemas.openxmlformats.org/drawingml/2006/main" w="0">
            <a:solidFill>
              <a:srgbClr val="C9D0D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00DED6-7218-4B67-8123-B56C00C7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097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7"/>
          </a:solidFill>
          <a:ln xmlns:a="http://schemas.openxmlformats.org/drawingml/2006/main" w="0">
            <a:solidFill>
              <a:srgbClr val="C9D0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6E06B6-D193-4161-A4CE-D2A221EE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342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01 / 知识服务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397811-370C-4363-BD8E-575F71A1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323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知识问答型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081B70-76DE-4603-B6C2-BDD393E5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3238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Prompt · RAG · Skill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1C4422-1DD9-4355-A9C2-EAC5C57A3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90900"/>
            <a:ext cx="3333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“如何稳定回答领域问题，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并给出可引用依据？”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701E7D-02F0-49AB-B0EF-FA328618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62450"/>
            <a:ext cx="33337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适合规程查询、告警解释、知识报告；以只读检索和结构化输出为主。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1343BB-9F87-4F4F-A444-B60E8037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38350"/>
            <a:ext cx="3143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02 / 分析决策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1E3764-883D-4B35-B883-AD3D3D259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3143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诊断分析型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BA288C-65DE-41E7-A565-0C52E82D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38450"/>
            <a:ext cx="3143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Agent Loop · Tool · 子 Agent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A7985F-6743-46AB-86F9-E300C25F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90900"/>
            <a:ext cx="31432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“如何跨系统取证，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形成根因假设与建议？”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6FEA64-E083-477A-B430-C557793E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62450"/>
            <a:ext cx="3143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适合故障诊断、配置审查；允许受限探索，并把高风险动作停在人前。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6A3EC5-CBAE-4331-9678-48A59A61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38350"/>
            <a:ext cx="3143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03 / 业务执行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70120F-536A-4901-B0F4-5448EB2C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81250"/>
            <a:ext cx="3238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流程协同型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2A7264-515E-46A3-A3CD-AD9BC9E5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38450"/>
            <a:ext cx="3238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Workflow · Interaction · Channel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36FE2F-676B-45E3-AB71-E8201EFF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90900"/>
            <a:ext cx="3238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“如何把标准步骤持续推进，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并接入客户流程？”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511B30-66AB-4F24-BDD2-D3777F47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62450"/>
            <a:ext cx="32385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适合巡检、变更、工单；用版本化 Recipe 固定步骤、交互、恢复和终态。</a:t>
            </a:r>
          </a:p>
        </p:txBody>
      </p:sp>
      <p:cxnSp>
        <p:nvCxnSpPr>
          <p:cNvPr id="389" name=""/>
          <p:cNvCxnSpPr/>
          <p:nvPr/>
        </p:nvCxnSpPr>
        <p:spPr>
          <a:xfrm xmlns:a="http://schemas.openxmlformats.org/drawingml/2006/main">
            <a:off x="457200" y="514350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0D7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B6E610-C77B-42E8-84DE-DFA7466E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共同结果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C4ADB9-8498-4346-BA8C-0176F18E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438775"/>
            <a:ext cx="3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A2F786-29AA-4D1A-8CCE-897B339E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429250"/>
            <a:ext cx="1809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先识别黑盒问题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E805DC-6620-4233-8364-7B891518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438775"/>
            <a:ext cx="3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0C5EB0-B808-46FF-90CC-AA99C80A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5429250"/>
            <a:ext cx="1524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最小权限绑定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8EB523-B4A5-4A3F-9597-F3701A430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438775"/>
            <a:ext cx="3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66C3C1-766E-4A2D-B2D5-C682F05D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429250"/>
            <a:ext cx="1905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人工关口显式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3CBD18-705F-494F-A51B-79F675EEA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438775"/>
            <a:ext cx="3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B5D4A6-5D92-40DA-B165-6C889636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429250"/>
            <a:ext cx="1905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真实产品路径验收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B0860C-A4F0-48D4-82B5-0CB3C3D1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7A848F"/>
                </a:solidFill>
                <a:latin typeface="Microsoft YaHei"/>
                <a:ea typeface="Microsoft YaHei"/>
                <a:cs typeface="Microsoft YaHei"/>
              </a:defRPr>
            </a:pPr>
            <a:r>
              <a:t>构建原则：知识问答打底，诊断分析扩展探索，流程协同承载可预测执行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EA740B-CA1E-4C05-87D6-1A424698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838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A848F"/>
                </a:solidFill>
                <a:latin typeface="Microsoft YaHei"/>
                <a:ea typeface="Microsoft YaHei"/>
                <a:cs typeface="Microsoft YaHei"/>
              </a:defRPr>
            </a:pPr>
            <a:r>
              <a:t>23 / 28</a:t>
            </a:r>
          </a:p>
        </p:txBody>
      </p:sp>
    </p:spTree>
    <p:extLst>
      <p:ext uri="{BB962C8B-B14F-4D97-AF65-F5344CB8AC3E}">
        <p14:creationId xmlns:p14="http://schemas.microsoft.com/office/powerpoint/2010/main" val="201750295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4D06B725-B1E0-4B3A-9188-B1CC972E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04775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构建业务智能体，先定义结果，再完成装配</a:t>
            </a:r>
          </a:p>
        </p:txBody>
      </p:sp>
      <p:cxnSp>
        <p:nvCxnSpPr>
          <p:cNvPr id="197" name=""/>
          <p:cNvCxnSpPr/>
          <p:nvPr/>
        </p:nvCxnSpPr>
        <p:spPr>
          <a:xfrm xmlns:a="http://schemas.openxmlformats.org/drawingml/2006/main">
            <a:off x="457200" y="1457325"/>
            <a:ext cx="54102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0D7"/>
            </a:solidFill>
            <a:prstDash val="solid"/>
          </a:ln>
        </p:spPr>
      </p:cxnSp>
      <p:cxnSp>
        <p:nvCxnSpPr>
          <p:cNvPr id="198" name=""/>
          <p:cNvCxnSpPr/>
          <p:nvPr/>
        </p:nvCxnSpPr>
        <p:spPr>
          <a:xfrm xmlns:a="http://schemas.openxmlformats.org/drawingml/2006/main">
            <a:off x="6096000" y="1457325"/>
            <a:ext cx="56388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0D7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522E72-3CB6-4855-9E35-B0558EB8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33525"/>
            <a:ext cx="114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01 / 是什么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22FB8B-B816-4B86-BD34-AB9441C2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43075"/>
            <a:ext cx="5334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一个业务智能体是 Agent package、Prompt、Capability binding、运行约束和验收场景的组合。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C9093D-336C-406D-BB22-80D6682D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33525"/>
            <a:ext cx="114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02 / 为什么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4AE9EA-F75F-49E4-B4D4-F6966F94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43075"/>
            <a:ext cx="552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从黑盒结果倒推装配，可避免先堆工具再寻找业务价值，也能提前明确安全与恢复边界。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91E4D8-9CF2-4C70-BA2F-07091D04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85975"/>
            <a:ext cx="10668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03 / 怎么做：结果定义 → Agent package → Prompt / Skill / Tool → 治理与交互 → 产品路径验收</a:t>
            </a:r>
          </a:p>
        </p:txBody>
      </p:sp>
      <p:cxnSp>
        <p:nvCxnSpPr>
          <p:cNvPr id="204" name=""/>
          <p:cNvCxnSpPr/>
          <p:nvPr/>
        </p:nvCxnSpPr>
        <p:spPr>
          <a:xfrm xmlns:a="http://schemas.openxmlformats.org/drawingml/2006/main">
            <a:off x="571500" y="2305050"/>
            <a:ext cx="106680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0D7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38995A-6209-4064-B193-87F94925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4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273A8D-9851-4F2C-8450-BA12494B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24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90BBC7-EECA-4EAC-8B5E-56FE875A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24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D53066-F849-4863-951F-AE5004C1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24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45DBB9-29EE-440E-B1EB-C61C2365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24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C544C1-5CDA-41E0-8AEB-CB0F245A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9555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01 / 定义场景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B7B651-FBF0-4313-8A8C-C4D8D04D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写清黑盒结果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B8261A-70AF-4EEA-939C-30D5B6E9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1857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明确要消除的是流程失控还是探索不透明，再定义结果与禁区。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958531-3528-4CE3-AF63-73FBA7B3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49555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02 / 创建 Agent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D36A0C-8526-4354-8A38-7337F7ED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76225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编写 agent.yaml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C63E43-5C8A-4AEC-A94E-B427541B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143250"/>
            <a:ext cx="1857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声明 agentId、版本、模型、预算和 userInvocable。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9A7223-9804-462D-A4DC-274A4D46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9555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03 / 组合能力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0C7F3B-B98C-40D3-8718-A4BB2004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6225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选择最小扩展面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4414DA-BF19-4C8D-AA77-A73C459E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43250"/>
            <a:ext cx="1857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按 Prompt、Skill、Tool、子 Agent、Workflow 的职责组合。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6C20E5-CD7B-4466-B8A2-8DF84FD4A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9555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04 / 设置边界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FDF2B5-C32D-4FE0-ABF2-277FDD48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6225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绑定与人工关口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F0D079-BD2D-403A-A84A-08079C94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143250"/>
            <a:ext cx="1857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只绑定必要能力；高风险动作增加确认、授权或接管。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59D8C8-ACF0-4217-A3D4-74002BBA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49555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05 / 验证交付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5876A3-C8BF-4769-875D-C6FBF89C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6225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跑通真实主链路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C6DBF5-6797-4503-B289-F21AC14D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43250"/>
            <a:ext cx="1857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用 submit、stream、history 验收主链路、异常与恢复。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30AEBA-B12A-44E0-A61E-E7DF2FF9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3476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9368F0-D62E-4304-8FDE-EFF953A3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4758B7-4D97-4870-AA50-70CA82F0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81450"/>
            <a:ext cx="304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配置资产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471CD4-C64A-4455-AD77-C42F993AF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38625"/>
            <a:ext cx="3048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agent.yaml · prompts/ · skills/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E433D0-E736-4691-9D89-C53F0FFA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857625"/>
            <a:ext cx="3476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A2BB7B-1AE4-4377-BCC3-30B4CF85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857625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05188C0-FA4F-44AD-80C7-37CFFCD3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981450"/>
            <a:ext cx="304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能力资产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DB0DFF-94A6-4AAE-8AB0-2ADB9711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238625"/>
            <a:ext cx="3048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Tool · Agent · Workflow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E469C0-D835-41C3-A44E-54A0838D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57625"/>
            <a:ext cx="3943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E99490B-03F1-4891-A85E-4074F259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57625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FAE7BA0-171C-4116-8171-2E3FE459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81450"/>
            <a:ext cx="34766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验收资产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6E9C95B-A2C9-4182-B27F-AE0E93B3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38625"/>
            <a:ext cx="34766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正例 · 异常 · 安全反例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D42F647-B7DF-4681-95F6-DA1430BD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5410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7B64D1F-CFA9-436E-943B-4F48E64F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14900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04 / 做成什么样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BF04B1-CF81-4762-ACB0-A5CAC26F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0"/>
            <a:ext cx="495300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业务差异由装配表达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193F909-9444-4117-8CCB-31EEDFF7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76875"/>
            <a:ext cx="495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多数场景无需修改 Runtime、Session 或持久化内核。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B40AC84-F9B8-4560-BCBF-05C9D219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62500"/>
            <a:ext cx="5638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12B"/>
          </a:solidFill>
          <a:ln xmlns:a="http://schemas.openxmlformats.org/drawingml/2006/main" w="0">
            <a:solidFill>
              <a:srgbClr val="13212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3B9F64E-A05A-4368-B265-C0902AB1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14900"/>
            <a:ext cx="5143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76D4E6"/>
                </a:solidFill>
                <a:latin typeface="Microsoft YaHei"/>
                <a:ea typeface="Microsoft YaHei"/>
                <a:cs typeface="Microsoft YaHei"/>
              </a:defRPr>
            </a:pPr>
            <a:r>
              <a:t>05 / 到什么程度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F814155-86E5-4B1C-9192-42DF4F3A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43500"/>
            <a:ext cx="514350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每项能力都有可核查结果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6B99F61-C6C0-4D55-86E5-1B7C7383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76875"/>
            <a:ext cx="5143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C7D2DC"/>
                </a:solidFill>
                <a:latin typeface="Microsoft YaHei"/>
                <a:ea typeface="Microsoft YaHei"/>
                <a:cs typeface="Microsoft YaHei"/>
              </a:defRPr>
            </a:pPr>
            <a:r>
              <a:t>注册不等于绑定；加载不等于授权；通过不等于只跑成功路径。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DCF344D-6284-4CB9-B779-37D62F71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7A848F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依据：Agent 配置、Skill / Tool 开发、Capability 扩展与黑盒验收约束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0BEAC30-8F01-48C0-82DA-22EB24E3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57950"/>
            <a:ext cx="1790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A848F"/>
                </a:solidFill>
                <a:latin typeface="Microsoft YaHei"/>
                <a:ea typeface="Microsoft YaHei"/>
                <a:cs typeface="Microsoft YaHei"/>
              </a:defRPr>
            </a:pPr>
            <a:r>
              <a:t>24 / 28</a:t>
            </a:r>
          </a:p>
        </p:txBody>
      </p:sp>
    </p:spTree>
    <p:extLst>
      <p:ext uri="{BB962C8B-B14F-4D97-AF65-F5344CB8AC3E}">
        <p14:creationId xmlns:p14="http://schemas.microsoft.com/office/powerpoint/2010/main" val="56198682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4D06B725-B1E0-4B3A-9188-B1CC972E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04775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故障诊断智能体：从告警输入到证据化结论</a:t>
            </a:r>
          </a:p>
        </p:txBody>
      </p:sp>
      <p:cxnSp>
        <p:nvCxnSpPr>
          <p:cNvPr id="197" name=""/>
          <p:cNvCxnSpPr/>
          <p:nvPr/>
        </p:nvCxnSpPr>
        <p:spPr>
          <a:xfrm xmlns:a="http://schemas.openxmlformats.org/drawingml/2006/main">
            <a:off x="457200" y="1457325"/>
            <a:ext cx="54102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0D7"/>
            </a:solidFill>
            <a:prstDash val="solid"/>
          </a:ln>
        </p:spPr>
      </p:cxnSp>
      <p:cxnSp>
        <p:nvCxnSpPr>
          <p:cNvPr id="198" name=""/>
          <p:cNvCxnSpPr/>
          <p:nvPr/>
        </p:nvCxnSpPr>
        <p:spPr>
          <a:xfrm xmlns:a="http://schemas.openxmlformats.org/drawingml/2006/main">
            <a:off x="6096000" y="1457325"/>
            <a:ext cx="56388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0D7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522E72-3CB6-4855-9E35-B0558EB8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33525"/>
            <a:ext cx="114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01 / 是什么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22FB8B-B816-4B86-BD34-AB9441C2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43075"/>
            <a:ext cx="5334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把告警、KPI、配置和知识库组合为只读优先、可解释、可接管的诊断任务。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C9093D-336C-406D-BB22-80D6682D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33525"/>
            <a:ext cx="114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02 / 为什么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4AE9EA-F75F-49E4-B4D4-F6966F94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43075"/>
            <a:ext cx="552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故障诊断路径不确定，但输入、权限、人工关口和结果格式可以预先约束。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91E4D8-9CF2-4C70-BA2F-07091D04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85975"/>
            <a:ext cx="10668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03 / 怎么做：以诊断黑盒结果为中心，装配 network-diagnostic-agent 与受治理能力</a:t>
            </a:r>
          </a:p>
        </p:txBody>
      </p:sp>
      <p:cxnSp>
        <p:nvCxnSpPr>
          <p:cNvPr id="204" name=""/>
          <p:cNvCxnSpPr/>
          <p:nvPr/>
        </p:nvCxnSpPr>
        <p:spPr>
          <a:xfrm xmlns:a="http://schemas.openxmlformats.org/drawingml/2006/main">
            <a:off x="571500" y="2305050"/>
            <a:ext cx="106680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0D7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38995A-6209-4064-B193-87F94925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4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273A8D-9851-4F2C-8450-BA12494B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24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90BBC7-EECA-4EAC-8B5E-56FE875A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24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D53066-F849-4863-951F-AE5004C1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24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45DBB9-29EE-440E-B1EB-C61C2365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24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C544C1-5CDA-41E0-8AEB-CB0F245A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9555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01 / 业务输入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B7B651-FBF0-4313-8A8C-C4D8D04D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告警与设备范围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B8261A-70AF-4EEA-939C-30D5B6E9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1857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接收告警 ID、设备、时间窗、KPI、配置片段与附件。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958531-3528-4CE3-AF63-73FBA7B3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49555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02 / 知识取证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D36A0C-8526-4354-8A38-7337F7ED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76225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RAG + 只读 Tool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C63E43-5C8A-4AEC-A94E-B427541B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143250"/>
            <a:ext cx="1857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检索规程与案例，读取授权数据；默认关闭写入和执行。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9A7223-9804-462D-A4DC-274A4D46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9555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03 / 专家分析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0C7F3B-B98C-40D3-8718-A4BB2004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6225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受限探索分析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4414DA-BF19-4C8D-AA77-A73C459E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43250"/>
            <a:ext cx="1857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Agent Loop / 子 Agent 汇总证据，形成根因候选、置信度与检查建议。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6C20E5-CD7B-4466-B8A2-8DF84FD4A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9555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04 / 人工决策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FDF2B5-C32D-4FE0-ABF2-277FDD48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6225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补充或确认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F0D079-BD2D-403A-A84A-08079C94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143250"/>
            <a:ext cx="1857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证据不足先提问；现场动作必须明确影响并申请授权。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59D8C8-ACF0-4217-A3D4-74002BBA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49555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05 / 结果交付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5876A3-C8BF-4769-875D-C6FBF89C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6225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诊断报告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C6DBF5-6797-4503-B289-F21AC14D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43250"/>
            <a:ext cx="1857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输出证据链、根因排序、处置建议与可追溯任务坐标。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30AEBA-B12A-44E0-A61E-E7DF2FF9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3476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9368F0-D62E-4304-8FDE-EFF953A3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4758B7-4D97-4870-AA50-70CA82F0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81450"/>
            <a:ext cx="304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Agent package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471CD4-C64A-4455-AD77-C42F993AF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38625"/>
            <a:ext cx="3048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agent.yaml + SYSTEM_PROMPT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E433D0-E736-4691-9D89-C53F0FFA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857625"/>
            <a:ext cx="3476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A2BB7B-1AE4-4377-BCC3-30B4CF85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857625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05188C0-FA4F-44AD-80C7-37CFFCD3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981450"/>
            <a:ext cx="304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能力绑定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DB0DFF-94A6-4AAE-8AB0-2ADB9711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238625"/>
            <a:ext cx="3048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Rag · Read · Grep · 专家 Agent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E469C0-D835-41C3-A44E-54A0838D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57625"/>
            <a:ext cx="3943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E99490B-03F1-4891-A85E-4074F259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57625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FAE7BA0-171C-4116-8171-2E3FE459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81450"/>
            <a:ext cx="34766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风险控制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6E9C95B-A2C9-4182-B27F-AE0E93B3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38625"/>
            <a:ext cx="34766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只读默认 · 确认 · handoff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D42F647-B7DF-4681-95F6-DA1430BD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5410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7B64D1F-CFA9-436E-943B-4F48E64F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14900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04 / 做成什么样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BF04B1-CF81-4762-ACB0-A5CAC26F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0"/>
            <a:ext cx="495300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结论可引用、过程可复盘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193F909-9444-4117-8CCB-31EEDFF7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76875"/>
            <a:ext cx="495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用户可从诊断结论回溯到证据、能力和分析阶段。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B40AC84-F9B8-4560-BCBF-05C9D219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62500"/>
            <a:ext cx="5638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12B"/>
          </a:solidFill>
          <a:ln xmlns:a="http://schemas.openxmlformats.org/drawingml/2006/main" w="0">
            <a:solidFill>
              <a:srgbClr val="13212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3B9F64E-A05A-4368-B265-C0902AB1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14900"/>
            <a:ext cx="5143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76D4E6"/>
                </a:solidFill>
                <a:latin typeface="Microsoft YaHei"/>
                <a:ea typeface="Microsoft YaHei"/>
                <a:cs typeface="Microsoft YaHei"/>
              </a:defRPr>
            </a:pPr>
            <a:r>
              <a:t>05 / 到什么程度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F814155-86E5-4B1C-9192-42DF4F3A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43500"/>
            <a:ext cx="514350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从只读逐级扩展执行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6B99F61-C6C0-4D55-86E5-1B7C7383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76875"/>
            <a:ext cx="5143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C7D2DC"/>
                </a:solidFill>
                <a:latin typeface="Microsoft YaHei"/>
                <a:ea typeface="Microsoft YaHei"/>
                <a:cs typeface="Microsoft YaHei"/>
              </a:defRPr>
            </a:pPr>
            <a:r>
              <a:t>新增 Bash、API Tool 或 Workflow 前，先补授权、sandbox 与反例验收。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DCF344D-6284-4CB9-B779-37D62F71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7A848F"/>
                </a:solidFill>
                <a:latin typeface="Microsoft YaHei"/>
                <a:ea typeface="Microsoft YaHei"/>
                <a:cs typeface="Microsoft YaHei"/>
              </a:defRPr>
            </a:pPr>
            <a:r>
              <a:t>示例来源：Agent 配置参考中的 network-diagnostic-agent 与统一 Capability 治理规则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0BEAC30-8F01-48C0-82DA-22EB24E3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57950"/>
            <a:ext cx="1790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A848F"/>
                </a:solidFill>
                <a:latin typeface="Microsoft YaHei"/>
                <a:ea typeface="Microsoft YaHei"/>
                <a:cs typeface="Microsoft YaHei"/>
              </a:defRPr>
            </a:pPr>
            <a:r>
              <a:t>25 / 28</a:t>
            </a:r>
          </a:p>
        </p:txBody>
      </p:sp>
    </p:spTree>
    <p:extLst>
      <p:ext uri="{BB962C8B-B14F-4D97-AF65-F5344CB8AC3E}">
        <p14:creationId xmlns:p14="http://schemas.microsoft.com/office/powerpoint/2010/main" val="56198682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4D06B725-B1E0-4B3A-9188-B1CC972E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04775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客户系统接入只做协议适配，不复制运行时语义</a:t>
            </a:r>
          </a:p>
        </p:txBody>
      </p:sp>
      <p:cxnSp>
        <p:nvCxnSpPr>
          <p:cNvPr id="197" name=""/>
          <p:cNvCxnSpPr/>
          <p:nvPr/>
        </p:nvCxnSpPr>
        <p:spPr>
          <a:xfrm xmlns:a="http://schemas.openxmlformats.org/drawingml/2006/main">
            <a:off x="457200" y="1457325"/>
            <a:ext cx="54102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0D7"/>
            </a:solidFill>
            <a:prstDash val="solid"/>
          </a:ln>
        </p:spPr>
      </p:cxnSp>
      <p:cxnSp>
        <p:nvCxnSpPr>
          <p:cNvPr id="198" name=""/>
          <p:cNvCxnSpPr/>
          <p:nvPr/>
        </p:nvCxnSpPr>
        <p:spPr>
          <a:xfrm xmlns:a="http://schemas.openxmlformats.org/drawingml/2006/main">
            <a:off x="6096000" y="1457325"/>
            <a:ext cx="56388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0D7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522E72-3CB6-4855-9E35-B0558EB8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33525"/>
            <a:ext cx="114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01 / 是什么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22FB8B-B816-4B86-BD34-AB9441C2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43075"/>
            <a:ext cx="5334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网管、工单、企业 IM、MQ 或私有协议可通过 Custom Channel 接入。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C9093D-336C-406D-BB22-80D6682D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33525"/>
            <a:ext cx="114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02 / 为什么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4AE9EA-F75F-49E4-B4D4-F6966F94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43075"/>
            <a:ext cx="552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客户协议可以变化，但任务生命周期、Scope、幂等和终态必须保持同一事实源。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91E4D8-9CF2-4C70-BA2F-07091D04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85975"/>
            <a:ext cx="10668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03 / 怎么做：Channel 完成身份解析、Schema 校验和协议映射，再调用统一 RuntimeCommandPort</a:t>
            </a:r>
          </a:p>
        </p:txBody>
      </p:sp>
      <p:cxnSp>
        <p:nvCxnSpPr>
          <p:cNvPr id="204" name=""/>
          <p:cNvCxnSpPr/>
          <p:nvPr/>
        </p:nvCxnSpPr>
        <p:spPr>
          <a:xfrm xmlns:a="http://schemas.openxmlformats.org/drawingml/2006/main">
            <a:off x="571500" y="2305050"/>
            <a:ext cx="106680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0D7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38995A-6209-4064-B193-87F94925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4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273A8D-9851-4F2C-8450-BA12494B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24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90BBC7-EECA-4EAC-8B5E-56FE875A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24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D53066-F849-4863-951F-AE5004C1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24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45DBB9-29EE-440E-B1EB-C61C2365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24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A7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C544C1-5CDA-41E0-8AEB-CB0F245A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9555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01 / 外部请求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B7B651-FBF0-4313-8A8C-C4D8D04D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协议进入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B8261A-70AF-4EEA-939C-30D5B6E9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1857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HTTP、MQ、TCP、IM 或工单回调。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958531-3528-4CE3-AF63-73FBA7B3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49555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02 / 可信边界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D36A0C-8526-4354-8A38-7337F7ED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76225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身份校验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C63E43-5C8A-4AEC-A94E-B427541B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143250"/>
            <a:ext cx="1857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解析 Owner Scope，生成稳定幂等键。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9A7223-9804-462D-A4DC-274A4D46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9555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03 / 运行命令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0C7F3B-B98C-40D3-8718-A4BB2004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6225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统一提交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4414DA-BF19-4C8D-AA77-A73C459E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43250"/>
            <a:ext cx="1857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submit、cancel、retry、answer input。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6C20E5-CD7B-4466-B8A2-8DF84FD4A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9555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04 / 应用推进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FDF2B5-C32D-4FE0-ABF2-277FDD48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6225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共享主链路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F0D079-BD2D-403A-A84A-08079C94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143250"/>
            <a:ext cx="1857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Runtime / Context / Gateway / Capability。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59D8C8-ACF0-4217-A3D4-74002BBA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49555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05 / 安全返回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5876A3-C8BF-4769-875D-C6FBF89C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6225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结果投影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C6DBF5-6797-4503-B289-F21AC14D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43250"/>
            <a:ext cx="1857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accepted response、SSE / WS 或目标协议事件。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30AEBA-B12A-44E0-A61E-E7DF2FF9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3476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9368F0-D62E-4304-8FDE-EFF953A3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4758B7-4D97-4870-AA50-70CA82F0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81450"/>
            <a:ext cx="304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Channel 不拥有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471CD4-C64A-4455-AD77-C42F993AF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38625"/>
            <a:ext cx="3048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request lifecycle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E433D0-E736-4691-9D89-C53F0FFA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857625"/>
            <a:ext cx="3476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A2BB7B-1AE4-4377-BCC3-30B4CF85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857625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05188C0-FA4F-44AD-80C7-37CFFCD3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981450"/>
            <a:ext cx="304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请求体不能覆盖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DB0DFF-94A6-4AAE-8AB0-2ADB9711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238625"/>
            <a:ext cx="3048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Owner / Agent Scope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E469C0-D835-41C3-A44E-54A0838D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57625"/>
            <a:ext cx="3943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E99490B-03F1-4891-A85E-4074F259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57625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FAE7BA0-171C-4116-8171-2E3FE459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81450"/>
            <a:ext cx="34766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外部只获得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6E9C95B-A2C9-4182-B27F-AE0E93B3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38625"/>
            <a:ext cx="34766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安全 DTO 与 SafeError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D42F647-B7DF-4681-95F6-DA1430BD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5410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7B64D1F-CFA9-436E-943B-4F48E64F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14900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04 / 做成什么样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BF04B1-CF81-4762-ACB0-A5CAC26F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0"/>
            <a:ext cx="495300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协议适配与业务语义解耦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193F909-9444-4117-8CCB-31EEDFF7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76875"/>
            <a:ext cx="495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接入方无需复制会话、调度、取消和终态逻辑。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B40AC84-F9B8-4560-BCBF-05C9D219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62500"/>
            <a:ext cx="5638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12B"/>
          </a:solidFill>
          <a:ln xmlns:a="http://schemas.openxmlformats.org/drawingml/2006/main" w="0">
            <a:solidFill>
              <a:srgbClr val="13212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3B9F64E-A05A-4368-B265-C0902AB1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14900"/>
            <a:ext cx="5143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76D4E6"/>
                </a:solidFill>
                <a:latin typeface="Microsoft YaHei"/>
                <a:ea typeface="Microsoft YaHei"/>
                <a:cs typeface="Microsoft YaHei"/>
              </a:defRPr>
            </a:pPr>
            <a:r>
              <a:t>05 / 到什么程度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F814155-86E5-4B1C-9192-42DF4F3A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43500"/>
            <a:ext cx="514350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多入口保持一致交付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6B99F61-C6C0-4D55-86E5-1B7C7383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76875"/>
            <a:ext cx="5143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C7D2DC"/>
                </a:solidFill>
                <a:latin typeface="Microsoft YaHei"/>
                <a:ea typeface="Microsoft YaHei"/>
                <a:cs typeface="Microsoft YaHei"/>
              </a:defRPr>
            </a:pPr>
            <a:r>
              <a:t>幂等、权限、审计、恢复和历史语义不因 Channel 分叉。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DCF344D-6284-4CB9-B779-37D62F71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7A848F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依据：Web API、Stream、Gateway 与 Customer Channel 边界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0BEAC30-8F01-48C0-82DA-22EB24E3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57950"/>
            <a:ext cx="1790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A848F"/>
                </a:solidFill>
                <a:latin typeface="Microsoft YaHei"/>
                <a:ea typeface="Microsoft YaHei"/>
                <a:cs typeface="Microsoft YaHei"/>
              </a:defRPr>
            </a:pPr>
            <a:r>
              <a:t>26 / 28</a:t>
            </a:r>
          </a:p>
        </p:txBody>
      </p:sp>
    </p:spTree>
    <p:extLst>
      <p:ext uri="{BB962C8B-B14F-4D97-AF65-F5344CB8AC3E}">
        <p14:creationId xmlns:p14="http://schemas.microsoft.com/office/powerpoint/2010/main" val="56198682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2AB716F7-84AC-4DE4-9EB8-DD5731EF3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85725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每个扩展点都以黑盒结果验收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35F064-8699-4624-AD0F-BF610B74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7143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84B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93BECE-9633-44B4-9D77-015F43F6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47700"/>
            <a:ext cx="590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正常路径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AFA874-EB2A-424A-9478-96C292A1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7143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6B00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4B5BEC-11FC-43A3-9EC8-3FDDE34A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47700"/>
            <a:ext cx="666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异常路径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C9DBC0-88C5-496D-88DA-A7217A95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7143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D4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B8132C-A35D-4682-BF50-B0AEC560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7700"/>
            <a:ext cx="742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安全反例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92E125-6FBC-4A73-B7ED-19A5E718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1277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0">
            <a:solidFill>
              <a:srgbClr val="EDF1F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36A345-9F1C-4969-AB2A-EE7708C2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104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能力方向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A0F0D0-F589-4F2A-B5CD-2D6E046E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724025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预期黑盒结果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2232C1-CBAE-4FE9-84B8-5D64FAC4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724025"/>
            <a:ext cx="27146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关键反例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40809E-023C-4DB0-8DDC-2E9ABC6C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724025"/>
            <a:ext cx="2571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重复验证出口</a:t>
            </a:r>
          </a:p>
        </p:txBody>
      </p:sp>
      <p:cxnSp>
        <p:nvCxnSpPr>
          <p:cNvPr id="370" name=""/>
          <p:cNvCxnSpPr/>
          <p:nvPr/>
        </p:nvCxnSpPr>
        <p:spPr>
          <a:xfrm xmlns:a="http://schemas.openxmlformats.org/drawingml/2006/main">
            <a:off x="457200" y="161925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0"/>
            </a:solidFill>
            <a:prstDash val="solid"/>
          </a:ln>
        </p:spPr>
      </p:cxnSp>
      <p:cxnSp>
        <p:nvCxnSpPr>
          <p:cNvPr id="371" name=""/>
          <p:cNvCxnSpPr/>
          <p:nvPr/>
        </p:nvCxnSpPr>
        <p:spPr>
          <a:xfrm xmlns:a="http://schemas.openxmlformats.org/drawingml/2006/main">
            <a:off x="457200" y="200025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0D7"/>
            </a:solidFill>
            <a:prstDash val="solid"/>
          </a:ln>
        </p:spPr>
      </p:cxnSp>
      <p:cxnSp>
        <p:nvCxnSpPr>
          <p:cNvPr id="372" name=""/>
          <p:cNvCxnSpPr/>
          <p:nvPr/>
        </p:nvCxnSpPr>
        <p:spPr>
          <a:xfrm xmlns:a="http://schemas.openxmlformats.org/drawingml/2006/main">
            <a:off x="457200" y="276225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0D7"/>
            </a:solidFill>
            <a:prstDash val="solid"/>
          </a:ln>
        </p:spPr>
      </p:cxnSp>
      <p:cxnSp>
        <p:nvCxnSpPr>
          <p:cNvPr id="373" name=""/>
          <p:cNvCxnSpPr/>
          <p:nvPr/>
        </p:nvCxnSpPr>
        <p:spPr>
          <a:xfrm xmlns:a="http://schemas.openxmlformats.org/drawingml/2006/main">
            <a:off x="457200" y="352425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0D7"/>
            </a:solidFill>
            <a:prstDash val="solid"/>
          </a:ln>
        </p:spPr>
      </p:cxnSp>
      <p:cxnSp>
        <p:nvCxnSpPr>
          <p:cNvPr id="374" name=""/>
          <p:cNvCxnSpPr/>
          <p:nvPr/>
        </p:nvCxnSpPr>
        <p:spPr>
          <a:xfrm xmlns:a="http://schemas.openxmlformats.org/drawingml/2006/main">
            <a:off x="457200" y="428625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0D7"/>
            </a:solidFill>
            <a:prstDash val="solid"/>
          </a:ln>
        </p:spPr>
      </p:cxnSp>
      <p:cxnSp>
        <p:nvCxnSpPr>
          <p:cNvPr id="375" name=""/>
          <p:cNvCxnSpPr/>
          <p:nvPr/>
        </p:nvCxnSpPr>
        <p:spPr>
          <a:xfrm xmlns:a="http://schemas.openxmlformats.org/drawingml/2006/main">
            <a:off x="457200" y="504825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0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A81BB6-C18D-442F-8ED8-D56BFD86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61925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7"/>
          </a:solidFill>
          <a:ln xmlns:a="http://schemas.openxmlformats.org/drawingml/2006/main" w="0">
            <a:solidFill>
              <a:srgbClr val="C9D0D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5EEFCC-57D9-4CCC-9606-AD91AD1C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61925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7"/>
          </a:solidFill>
          <a:ln xmlns:a="http://schemas.openxmlformats.org/drawingml/2006/main" w="0">
            <a:solidFill>
              <a:srgbClr val="C9D0D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D511EF-A46E-4CDC-B212-2DC81966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61925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7"/>
          </a:solidFill>
          <a:ln xmlns:a="http://schemas.openxmlformats.org/drawingml/2006/main" w="0">
            <a:solidFill>
              <a:srgbClr val="C9D0D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1ED5DA-679D-4E6D-98BF-51095F66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47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7081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Agent / Prompt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86900E-9B0F-495D-87CF-B69DC53E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47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业务装配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5CA5FA-2DA3-41B0-B1E3-D30AB8D5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1431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84B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850AA1-D739-434C-AD99-791FBB69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076450"/>
            <a:ext cx="28289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命中目标 Agent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F254CF-5808-4ECF-97FB-C7BDF50B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343150"/>
            <a:ext cx="2952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角色、术语和输出符合约束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9B6384-FB52-498F-942D-BD9C5EA9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1431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6B00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70B3DA-1D2C-4151-B21B-8743EECA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076450"/>
            <a:ext cx="26384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运行中配置变化不影响 accepted run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63010E-094D-4EBC-830A-C1028C780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343150"/>
            <a:ext cx="2762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请求体不能覆盖 Agent Scope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5AE505-C50C-4C97-B143-EDB9C122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1431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D4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6477F2-6031-4C84-956F-26590256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76450"/>
            <a:ext cx="24479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submit + stream + history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082859-58C1-41BB-BBAE-42220BCE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343150"/>
            <a:ext cx="2571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装配事实和结果保持一致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CC2D61-3CCD-4CA6-89EE-426EF25B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047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5555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Capability / Workflow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7CE9B5-53B7-4E93-9A99-36A357080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047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能力与流程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3BB0D8-0127-415C-92B1-F6519CF2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9051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84B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F12097-D5B9-4EAC-AE59-5797D986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838450"/>
            <a:ext cx="28289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只调用已绑定能力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11D870-7946-48AA-88D3-C97677146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105150"/>
            <a:ext cx="2952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节点状态、交互和恢复可见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873809E-EFD0-486C-9D0E-E2C92F29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9051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6B00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9868FA8-24F6-4184-A886-9FA9B54E8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838450"/>
            <a:ext cx="26384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失败、取消和超时形成权威状态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7E7855-B078-4298-9E01-850DAC44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105150"/>
            <a:ext cx="2762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未绑定能力不可见；危险动作需授权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86953E2-A7D1-4736-8A0C-2F10F157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9051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D4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B5D98CE-C9F4-414D-90B4-37595AE8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38450"/>
            <a:ext cx="24479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contract + security E2E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1DFAFB1-8447-4AA7-9ABD-0238FF37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105150"/>
            <a:ext cx="2571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正例和禁止项反例共同执行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771B94D-8A80-4B7C-AC4A-72C7F12A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047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07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Hook / Policy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CF134F5-C365-491C-96DF-D7FCCBDD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47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治理扩展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BDF7E0D-80E1-4845-9A35-5DDDDEAE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6671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84B"/>
          </a:solidFill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4B0550A-F425-4934-8486-BC990975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600450"/>
            <a:ext cx="28289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只在批准阶段按预期生效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F580EA4-DE53-43D3-8E1D-DF566807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867150"/>
            <a:ext cx="2952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失败不阻断或伪造终态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78901D2-6AC6-41D5-B501-28838E84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6671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6B00"/>
          </a:solidFill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797D93F-64C0-4B15-B26F-3F47E066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600450"/>
            <a:ext cx="26384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依赖不可用时 fail closed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938CF76-A8B2-4698-A0C5-0E72F589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867150"/>
            <a:ext cx="2762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不得绕过 Runtime 或修改 Scope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F81A7E3-76C9-4F5E-9297-8273324E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6671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D4"/>
          </a:solidFill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D5D9011-E2B5-46DC-91CA-DC384BD4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00450"/>
            <a:ext cx="24479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architecture + resilience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71653A3-F02C-4894-8FFD-A15DC9BC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867150"/>
            <a:ext cx="2571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控制点、失败与降级均可复现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E2C009A-3A5C-4F02-A6ED-944ACD29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047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45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Channel / Gateway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F72DFEF-E980-43A9-A066-1C9A4E6F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47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客户集成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08C3D27-3A95-41D3-B088-774D53F0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4291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84B"/>
          </a:solidFill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8AA7F36-AD0D-4130-A4BB-97C38F21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4362450"/>
            <a:ext cx="28289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可信身份和幂等键正确映射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B73C2E1-E326-4E2E-9AFB-6E19D840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29150"/>
            <a:ext cx="2952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重复提交不重复副作用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C50772A-A40A-4731-955E-8AC4EBA9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4291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6B00"/>
          </a:solidFill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A3F7859-FB58-4B37-8513-B95A48735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362450"/>
            <a:ext cx="26384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存储失败不产生半提交事实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EE7AE6E-9F7E-48C4-8E77-E8C2694B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629150"/>
            <a:ext cx="2762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只返回安全 DTO / 错误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C9C2913-B9D6-4B8F-9868-D42427B1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4291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D4"/>
          </a:solidFill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C6FE00D-3C5C-4AA2-B236-BD81EC29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62450"/>
            <a:ext cx="24479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product + release E2E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4CFC48C-4EFD-470A-B32D-9C182964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629150"/>
            <a:ext cx="2571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使用真实 HTTP / stream / persistence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C719A63-0C62-4857-85A2-3FC5F382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0"/>
            <a:ext cx="1619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交付门禁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843BC32-034C-4C39-829E-B6191759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314950"/>
            <a:ext cx="9048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build、unit、contract、architecture、OpenSpec strict，以及真实产品、安全、韧性和 release E2E。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483E0F7-8CC2-428C-911E-D6D563174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952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7A848F"/>
                </a:solidFill>
                <a:latin typeface="Microsoft YaHei"/>
                <a:ea typeface="Microsoft YaHei"/>
                <a:cs typeface="Microsoft YaHei"/>
              </a:defRPr>
            </a:pPr>
            <a:r>
              <a:t>验收原则：每项禁止行为至少有一个可重复触发并断言失败的反例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733C689-CEEC-4B0F-994D-701EE459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838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A848F"/>
                </a:solidFill>
                <a:latin typeface="Microsoft YaHei"/>
                <a:ea typeface="Microsoft YaHei"/>
                <a:cs typeface="Microsoft YaHei"/>
              </a:defRPr>
            </a:pPr>
            <a:r>
              <a:t>27 / 28</a:t>
            </a:r>
          </a:p>
        </p:txBody>
      </p:sp>
    </p:spTree>
    <p:extLst>
      <p:ext uri="{BB962C8B-B14F-4D97-AF65-F5344CB8AC3E}">
        <p14:creationId xmlns:p14="http://schemas.microsoft.com/office/powerpoint/2010/main" val="77529282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5539E68-C44A-4DF3-805C-365C9220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0"/>
            <a:ext cx="22383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22"/>
          </a:solidFill>
          <a:ln xmlns:a="http://schemas.openxmlformats.org/drawingml/2006/main" w="0">
            <a:solidFill>
              <a:srgbClr val="1019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71F9EE-3DFD-45E8-9074-012286A4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59055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NEXTAGENT / TELECOM AGENT FRAMEWORK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F49769-590B-4B07-AEB1-DF20973E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85725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把智能体能力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带入电信网络的生产主路径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7C454D-3435-4CF9-81E7-BC02D456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81375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A7"/>
          </a:solidFill>
          <a:ln xmlns:a="http://schemas.openxmlformats.org/drawingml/2006/main" w="0">
            <a:solidFill>
              <a:srgbClr val="1687A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77E50B-F5B9-462A-BDB1-C67EB84B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67125"/>
            <a:ext cx="7858125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D6874"/>
                </a:solidFill>
                <a:latin typeface="Microsoft YaHei"/>
                <a:ea typeface="Microsoft YaHei"/>
                <a:cs typeface="Microsoft YaHei"/>
              </a:defRPr>
            </a:pPr>
            <a:r>
              <a:t>可靠运行 · 双范式执行 · 持续学习 · 稳定扩展 · 可重复验证</a:t>
            </a:r>
          </a:p>
        </p:txBody>
      </p:sp>
      <p:cxnSp>
        <p:nvCxnSpPr>
          <p:cNvPr id="120" name=""/>
          <p:cNvCxnSpPr/>
          <p:nvPr/>
        </p:nvCxnSpPr>
        <p:spPr>
          <a:xfrm xmlns:a="http://schemas.openxmlformats.org/drawingml/2006/main">
            <a:off x="495300" y="5905500"/>
            <a:ext cx="898207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0D7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D8AE78-E50F-41F4-BBB9-E4B4026B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15050"/>
            <a:ext cx="13811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87A7"/>
                </a:solidFill>
                <a:latin typeface="Microsoft YaHei"/>
                <a:ea typeface="Microsoft YaHei"/>
                <a:cs typeface="Microsoft YaHei"/>
              </a:defRPr>
            </a:pPr>
            <a:r>
              <a:t>核心结论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EED7DD-F490-4BC3-B7AA-168828C1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096000"/>
            <a:ext cx="723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9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820"/>
                </a:solidFill>
                <a:latin typeface="Microsoft YaHei"/>
                <a:ea typeface="Microsoft YaHei"/>
                <a:cs typeface="Microsoft YaHei"/>
              </a:defRPr>
            </a:pPr>
            <a:r>
              <a:t>从只读场景开始：选择 Workflow 或 Agent Loop，接入受治理能力，让经验在后续任务持续增量，并以真实产品路径验收。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881DC9-BCE3-429A-BD13-CBF13EAF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28625"/>
            <a:ext cx="1428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FD5E8"/>
                </a:solidFill>
                <a:latin typeface="Microsoft YaHei"/>
                <a:ea typeface="Microsoft YaHei"/>
                <a:cs typeface="Microsoft YaHei"/>
              </a:defRPr>
            </a:pPr>
            <a:r>
              <a:t>28 — 28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5D4B43-A224-4FE7-B4FC-B7792379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066800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关键特性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7980A9-2F96-48FF-ACB0-1436692A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428750"/>
            <a:ext cx="1428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AEBAC5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能力如何组成可信任务闭环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EFC3BC-038F-44F6-BB3D-17F9C226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190750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黑盒效果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D230F5-2E02-4F30-831E-3F815E43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552700"/>
            <a:ext cx="1428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AEBAC5"/>
                </a:solidFill>
                <a:latin typeface="Microsoft YaHei"/>
                <a:ea typeface="Microsoft YaHei"/>
                <a:cs typeface="Microsoft YaHei"/>
              </a:defRPr>
            </a:pPr>
            <a:r>
              <a:t>用户看到什么、能做什么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AC186E-E947-438C-9AB2-8C3A7DA3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314700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业界增量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AE8D63-75D9-4A16-9D0F-06421682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676650"/>
            <a:ext cx="1428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AEBAC5"/>
                </a:solidFill>
                <a:latin typeface="Microsoft YaHei"/>
                <a:ea typeface="Microsoft YaHei"/>
                <a:cs typeface="Microsoft YaHei"/>
              </a:defRPr>
            </a:pPr>
            <a:r>
              <a:t>从组件齐全到同一主路径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44EC08-E6F5-4C80-B354-9654DE51D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438650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扩展交付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34016A-FDA4-418D-876A-2F8272B7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800600"/>
            <a:ext cx="1428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AEBAC5"/>
                </a:solidFill>
                <a:latin typeface="Microsoft YaHei"/>
                <a:ea typeface="Microsoft YaHei"/>
                <a:cs typeface="Microsoft YaHei"/>
              </a:defRPr>
            </a:pPr>
            <a:r>
              <a:t>以稳定边界接入领域能力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A2C20F-2958-436A-A5CF-CB5A2677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810250"/>
            <a:ext cx="1428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AEBAC5"/>
                </a:solidFill>
                <a:latin typeface="Microsoft YaHei"/>
                <a:ea typeface="Microsoft YaHei"/>
                <a:cs typeface="Microsoft YaHei"/>
              </a:defRPr>
            </a:pPr>
            <a:r>
              <a:t>对外技术交流材料｜2026.08</a:t>
            </a:r>
          </a:p>
        </p:txBody>
      </p:sp>
    </p:spTree>
    <p:extLst>
      <p:ext uri="{BB962C8B-B14F-4D97-AF65-F5344CB8AC3E}">
        <p14:creationId xmlns:p14="http://schemas.microsoft.com/office/powerpoint/2010/main" val="15722751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2026-08-12T09:01:46.2780000Z</dcterms:created>
  <dcterms:modified xsi:type="dcterms:W3CDTF">2026-08-12T09:01:46.2780000Z</dcterms:modified>
</coreProperties>
</file>